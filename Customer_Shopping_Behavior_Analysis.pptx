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4.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5.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6.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Revenue (USD)</c:v>
                </c:pt>
              </c:strCache>
            </c:strRef>
          </c:tx>
          <c:spPr>
            <a:solidFill>
              <a:srgbClr val="F96167"/>
            </a:solidFill>
            <a:effectLst/>
          </c:spPr>
          <c:invertIfNegative val="0"/>
          <c:dLbls>
            <c:numFmt formatCode="#,##0" sourceLinked="0"/>
            <c:txPr>
              <a:bodyPr/>
              <a:lstStyle/>
              <a:p>
                <a:pPr>
                  <a:defRPr b="1" i="0" strike="noStrike" sz="1200" u="none">
                    <a:solidFill>
                      <a:srgbClr val="2B2B33"/>
                    </a:solidFill>
                    <a:latin typeface="Arial"/>
                  </a:defRPr>
                </a:pPr>
              </a:p>
            </c:txPr>
            <c:showLegendKey val="0"/>
            <c:showVal val="1"/>
            <c:showCatName val="0"/>
            <c:showSerName val="0"/>
            <c:showPercent val="0"/>
            <c:showBubbleSize val="0"/>
            <c:showLeaderLines val="0"/>
          </c:dLbls>
          <c:cat>
            <c:multiLvlStrRef>
              <c:f>Sheet1!$A$2:$A$3</c:f>
              <c:multiLvlStrCache>
                <c:ptCount val="2"/>
                <c:lvl>
                  <c:pt idx="0">
                    <c:v>Female</c:v>
                  </c:pt>
                  <c:pt idx="1">
                    <c:v>Male</c:v>
                  </c:pt>
                </c:lvl>
              </c:multiLvlStrCache>
            </c:multiLvlStrRef>
          </c:cat>
          <c:val>
            <c:numRef>
              <c:f>Sheet1!$B$2:$B$3</c:f>
              <c:numCache>
                <c:formatCode>General</c:formatCode>
                <c:ptCount val="2"/>
                <c:pt idx="0">
                  <c:v>75191</c:v>
                </c:pt>
                <c:pt idx="1">
                  <c:v>157890</c:v>
                </c:pt>
              </c:numCache>
            </c:numRef>
          </c:val>
        </c:ser>
        <c:dLbls>
          <c:numFmt formatCode="#,##0" sourceLinked="0"/>
          <c:txPr>
            <a:bodyPr/>
            <a:lstStyle/>
            <a:p>
              <a:pPr>
                <a:defRPr b="1" i="0" strike="noStrike" sz="1200" u="none">
                  <a:solidFill>
                    <a:srgbClr val="2B2B33"/>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2B2B33"/>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5E5EA"/>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6E85"/>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Avg. Rating</c:v>
                </c:pt>
              </c:strCache>
            </c:strRef>
          </c:tx>
          <c:spPr>
            <a:solidFill>
              <a:srgbClr val="2F3C7E"/>
            </a:solidFill>
            <a:effectLst/>
          </c:spPr>
          <c:invertIfNegative val="0"/>
          <c:dLbls>
            <c:numFmt formatCode="0.00" sourceLinked="0"/>
            <c:txPr>
              <a:bodyPr/>
              <a:lstStyle/>
              <a:p>
                <a:pPr>
                  <a:defRPr b="1" i="0" strike="noStrike" sz="1200" u="none">
                    <a:solidFill>
                      <a:srgbClr val="2B2B33"/>
                    </a:solidFill>
                    <a:latin typeface="Arial"/>
                  </a:defRPr>
                </a:pPr>
              </a:p>
            </c:txPr>
            <c:showLegendKey val="0"/>
            <c:showVal val="1"/>
            <c:showCatName val="0"/>
            <c:showSerName val="0"/>
            <c:showPercent val="0"/>
            <c:showBubbleSize val="0"/>
            <c:showLeaderLines val="0"/>
          </c:dLbls>
          <c:cat>
            <c:multiLvlStrRef>
              <c:f>Sheet1!$A$2:$A$6</c:f>
              <c:multiLvlStrCache>
                <c:ptCount val="5"/>
                <c:lvl>
                  <c:pt idx="0">
                    <c:v>Skirt</c:v>
                  </c:pt>
                  <c:pt idx="1">
                    <c:v>Hat</c:v>
                  </c:pt>
                  <c:pt idx="2">
                    <c:v>Boots</c:v>
                  </c:pt>
                  <c:pt idx="3">
                    <c:v>Sandals</c:v>
                  </c:pt>
                  <c:pt idx="4">
                    <c:v>Gloves</c:v>
                  </c:pt>
                </c:lvl>
              </c:multiLvlStrCache>
            </c:multiLvlStrRef>
          </c:cat>
          <c:val>
            <c:numRef>
              <c:f>Sheet1!$B$2:$B$6</c:f>
              <c:numCache>
                <c:formatCode>General</c:formatCode>
                <c:ptCount val="5"/>
                <c:pt idx="0">
                  <c:v>3.78</c:v>
                </c:pt>
                <c:pt idx="1">
                  <c:v>3.8</c:v>
                </c:pt>
                <c:pt idx="2">
                  <c:v>3.82</c:v>
                </c:pt>
                <c:pt idx="3">
                  <c:v>3.84</c:v>
                </c:pt>
                <c:pt idx="4">
                  <c:v>3.86</c:v>
                </c:pt>
              </c:numCache>
            </c:numRef>
          </c:val>
        </c:ser>
        <c:dLbls>
          <c:numFmt formatCode="0.00" sourceLinked="0"/>
          <c:txPr>
            <a:bodyPr/>
            <a:lstStyle/>
            <a:p>
              <a:pPr>
                <a:defRPr b="1" i="0" strike="noStrike" sz="1200" u="none">
                  <a:solidFill>
                    <a:srgbClr val="2B2B33"/>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2B2B33"/>
                </a:solidFill>
                <a:latin typeface="Arial"/>
              </a:defRPr>
            </a:pPr>
            <a:endParaRPr lang="en-US"/>
          </a:p>
        </c:txPr>
        <c:crossAx val="2094734552"/>
        <c:crosses val="autoZero"/>
        <c:auto val="1"/>
        <c:lblAlgn val="ctr"/>
        <c:noMultiLvlLbl val="1"/>
      </c:catAx>
      <c:valAx>
        <c:axId val="2094734552"/>
        <c:scaling>
          <c:orientation val="minMax"/>
          <c:max val="3.95"/>
          <c:min val="3.6"/>
        </c:scaling>
        <c:delete val="0"/>
        <c:axPos val="b"/>
        <c:majorGridlines>
          <c:spPr>
            <a:ln w="9525" cap="flat">
              <a:solidFill>
                <a:srgbClr val="E5E5EA"/>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B6E85"/>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Avg. Amount</c:v>
                </c:pt>
              </c:strCache>
            </c:strRef>
          </c:tx>
          <c:spPr>
            <a:solidFill>
              <a:srgbClr val="F96167"/>
            </a:solidFill>
            <a:effectLst/>
          </c:spPr>
          <c:invertIfNegative val="0"/>
          <c:dLbls>
            <c:numFmt formatCode="$0.00" sourceLinked="0"/>
            <c:txPr>
              <a:bodyPr/>
              <a:lstStyle/>
              <a:p>
                <a:pPr>
                  <a:defRPr b="1" i="0" strike="noStrike" sz="1100" u="none">
                    <a:solidFill>
                      <a:srgbClr val="2B2B33"/>
                    </a:solidFill>
                    <a:latin typeface="Arial"/>
                  </a:defRPr>
                </a:pPr>
              </a:p>
            </c:txPr>
            <c:showLegendKey val="0"/>
            <c:showVal val="1"/>
            <c:showCatName val="0"/>
            <c:showSerName val="0"/>
            <c:showPercent val="0"/>
            <c:showBubbleSize val="0"/>
            <c:showLeaderLines val="0"/>
          </c:dLbls>
          <c:cat>
            <c:multiLvlStrRef>
              <c:f>Sheet1!$A$2:$A$3</c:f>
              <c:multiLvlStrCache>
                <c:ptCount val="2"/>
                <c:lvl>
                  <c:pt idx="0">
                    <c:v>Standard</c:v>
                  </c:pt>
                  <c:pt idx="1">
                    <c:v>Express</c:v>
                  </c:pt>
                </c:lvl>
              </c:multiLvlStrCache>
            </c:multiLvlStrRef>
          </c:cat>
          <c:val>
            <c:numRef>
              <c:f>Sheet1!$B$2:$B$3</c:f>
              <c:numCache>
                <c:formatCode>General</c:formatCode>
                <c:ptCount val="2"/>
                <c:pt idx="0">
                  <c:v>58.46</c:v>
                </c:pt>
                <c:pt idx="1">
                  <c:v>60.48</c:v>
                </c:pt>
              </c:numCache>
            </c:numRef>
          </c:val>
        </c:ser>
        <c:dLbls>
          <c:numFmt formatCode="$0.00" sourceLinked="0"/>
          <c:txPr>
            <a:bodyPr/>
            <a:lstStyle/>
            <a:p>
              <a:pPr>
                <a:defRPr b="1" i="0" strike="noStrike" sz="1100" u="none">
                  <a:solidFill>
                    <a:srgbClr val="2B2B33"/>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B2B33"/>
                </a:solidFill>
                <a:latin typeface="Arial"/>
              </a:defRPr>
            </a:pPr>
            <a:endParaRPr lang="en-US"/>
          </a:p>
        </c:txPr>
        <c:crossAx val="2094734552"/>
        <c:crosses val="autoZero"/>
        <c:auto val="1"/>
        <c:lblAlgn val="ctr"/>
        <c:noMultiLvlLbl val="1"/>
      </c:catAx>
      <c:valAx>
        <c:axId val="2094734552"/>
        <c:scaling>
          <c:orientation val="minMax"/>
          <c:max val="63"/>
          <c:min val="55"/>
        </c:scaling>
        <c:delete val="0"/>
        <c:axPos val="l"/>
        <c:majorGridlines>
          <c:spPr>
            <a:ln w="9525" cap="flat">
              <a:solidFill>
                <a:srgbClr val="E5E5EA"/>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6E85"/>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Discount Rate (%)</c:v>
                </c:pt>
              </c:strCache>
            </c:strRef>
          </c:tx>
          <c:spPr>
            <a:solidFill>
              <a:srgbClr val="F96167"/>
            </a:solidFill>
            <a:effectLst/>
          </c:spPr>
          <c:invertIfNegative val="0"/>
          <c:dLbls>
            <c:numFmt formatCode="0.00&quot;%&quot;" sourceLinked="0"/>
            <c:txPr>
              <a:bodyPr/>
              <a:lstStyle/>
              <a:p>
                <a:pPr>
                  <a:defRPr b="1" i="0" strike="noStrike" sz="1200" u="none">
                    <a:solidFill>
                      <a:srgbClr val="2B2B33"/>
                    </a:solidFill>
                    <a:latin typeface="Arial"/>
                  </a:defRPr>
                </a:pPr>
              </a:p>
            </c:txPr>
            <c:showLegendKey val="0"/>
            <c:showVal val="1"/>
            <c:showCatName val="0"/>
            <c:showSerName val="0"/>
            <c:showPercent val="0"/>
            <c:showBubbleSize val="0"/>
            <c:showLeaderLines val="0"/>
          </c:dLbls>
          <c:cat>
            <c:multiLvlStrRef>
              <c:f>Sheet1!$A$2:$A$6</c:f>
              <c:multiLvlStrCache>
                <c:ptCount val="5"/>
                <c:lvl>
                  <c:pt idx="0">
                    <c:v>Pants</c:v>
                  </c:pt>
                  <c:pt idx="1">
                    <c:v>Sweater</c:v>
                  </c:pt>
                  <c:pt idx="2">
                    <c:v>Coat</c:v>
                  </c:pt>
                  <c:pt idx="3">
                    <c:v>Sneakers</c:v>
                  </c:pt>
                  <c:pt idx="4">
                    <c:v>Hat</c:v>
                  </c:pt>
                </c:lvl>
              </c:multiLvlStrCache>
            </c:multiLvlStrRef>
          </c:cat>
          <c:val>
            <c:numRef>
              <c:f>Sheet1!$B$2:$B$6</c:f>
              <c:numCache>
                <c:formatCode>General</c:formatCode>
                <c:ptCount val="5"/>
                <c:pt idx="0">
                  <c:v>47.37</c:v>
                </c:pt>
                <c:pt idx="1">
                  <c:v>48.17</c:v>
                </c:pt>
                <c:pt idx="2">
                  <c:v>49.07</c:v>
                </c:pt>
                <c:pt idx="3">
                  <c:v>49.66</c:v>
                </c:pt>
                <c:pt idx="4">
                  <c:v>50</c:v>
                </c:pt>
              </c:numCache>
            </c:numRef>
          </c:val>
        </c:ser>
        <c:dLbls>
          <c:numFmt formatCode="0.00&quot;%&quot;" sourceLinked="0"/>
          <c:txPr>
            <a:bodyPr/>
            <a:lstStyle/>
            <a:p>
              <a:pPr>
                <a:defRPr b="1" i="0" strike="noStrike" sz="1200" u="none">
                  <a:solidFill>
                    <a:srgbClr val="2B2B33"/>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2B2B33"/>
                </a:solidFill>
                <a:latin typeface="Arial"/>
              </a:defRPr>
            </a:pPr>
            <a:endParaRPr lang="en-US"/>
          </a:p>
        </c:txPr>
        <c:crossAx val="2094734552"/>
        <c:crosses val="autoZero"/>
        <c:auto val="1"/>
        <c:lblAlgn val="ctr"/>
        <c:noMultiLvlLbl val="1"/>
      </c:catAx>
      <c:valAx>
        <c:axId val="2094734552"/>
        <c:scaling>
          <c:orientation val="minMax"/>
          <c:max val="52"/>
          <c:min val="45"/>
        </c:scaling>
        <c:delete val="0"/>
        <c:axPos val="b"/>
        <c:majorGridlines>
          <c:spPr>
            <a:ln w="9525" cap="flat">
              <a:solidFill>
                <a:srgbClr val="E5E5EA"/>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B6E85"/>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Customers</c:v>
                </c:pt>
              </c:strCache>
            </c:strRef>
          </c:tx>
          <c:spPr>
            <a:solidFill>
              <a:schemeClr val="accent1"/>
            </a:solidFill>
            <a:ln w="9525" cap="flat">
              <a:solidFill>
                <a:srgbClr val="F9F9F9"/>
              </a:solidFill>
              <a:prstDash val="solid"/>
              <a:round/>
            </a:ln>
            <a:effectLst/>
          </c:spPr>
          <c:dPt>
            <c:idx val="0"/>
            <c:bubble3D val="0"/>
            <c:spPr>
              <a:solidFill>
                <a:srgbClr val="2F3C7E"/>
              </a:solidFill>
              <a:effectLst/>
            </c:spPr>
          </c:dPt>
          <c:dPt>
            <c:idx val="1"/>
            <c:bubble3D val="0"/>
            <c:spPr>
              <a:solidFill>
                <a:srgbClr val="F96167"/>
              </a:solidFill>
              <a:effectLst/>
            </c:spPr>
          </c:dPt>
          <c:dPt>
            <c:idx val="2"/>
            <c:bubble3D val="0"/>
            <c:spPr>
              <a:solidFill>
                <a:srgbClr val="F9E795"/>
              </a:solidFill>
              <a:effectLst/>
            </c:spPr>
          </c:dPt>
          <c:dLbls>
            <c:dLbl>
              <c:idx val="0"/>
              <c:numFmt formatCode="0%" sourceLinked="0"/>
              <c:spPr/>
              <c:txPr>
                <a:bodyPr/>
                <a:lstStyle/>
                <a:p>
                  <a:pPr>
                    <a:defRPr sz="1200" b="1"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1200" b="1"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1200" b="1"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Loyal</c:v>
                </c:pt>
                <c:pt idx="1">
                  <c:v>Returning</c:v>
                </c:pt>
                <c:pt idx="2">
                  <c:v>New</c:v>
                </c:pt>
              </c:strCache>
            </c:strRef>
          </c:cat>
          <c:val>
            <c:numRef>
              <c:f>Sheet1!$B$2:$B$4</c:f>
              <c:numCache>
                <c:ptCount val="3"/>
                <c:pt idx="0">
                  <c:v>3116</c:v>
                </c:pt>
                <c:pt idx="1">
                  <c:v>701</c:v>
                </c:pt>
                <c:pt idx="2">
                  <c:v>83</c:v>
                </c:pt>
              </c:numCache>
            </c:numRef>
          </c:val>
        </c:ser>
        <c:firstSliceAng val="0"/>
        <c:holeSize val="55"/>
      </c:doughnutChart>
      <c:spPr>
        <a:noFill/>
        <a:ln>
          <a:noFill/>
        </a:ln>
        <a:effectLst/>
      </c:spPr>
    </c:plotArea>
    <c:legend>
      <c:legendPos val="b"/>
      <c:overlay val="0"/>
      <c:txPr>
        <a:bodyPr/>
        <a:lstStyle/>
        <a:p>
          <a:pPr>
            <a:defRPr sz="1200">
              <a:solidFill>
                <a:srgbClr val="2B2B33"/>
              </a:solidFill>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Revenue (USD)</c:v>
                </c:pt>
              </c:strCache>
            </c:strRef>
          </c:tx>
          <c:spPr>
            <a:solidFill>
              <a:srgbClr val="2F3C7E"/>
            </a:solidFill>
            <a:effectLst/>
          </c:spPr>
          <c:invertIfNegative val="0"/>
          <c:dLbls>
            <c:numFmt formatCode="$#,##0" sourceLinked="0"/>
            <c:txPr>
              <a:bodyPr/>
              <a:lstStyle/>
              <a:p>
                <a:pPr>
                  <a:defRPr b="1" i="0" strike="noStrike" sz="1200" u="none">
                    <a:solidFill>
                      <a:srgbClr val="2B2B33"/>
                    </a:solidFill>
                    <a:latin typeface="Arial"/>
                  </a:defRPr>
                </a:pPr>
              </a:p>
            </c:txPr>
            <c:showLegendKey val="0"/>
            <c:showVal val="1"/>
            <c:showCatName val="0"/>
            <c:showSerName val="0"/>
            <c:showPercent val="0"/>
            <c:showBubbleSize val="0"/>
            <c:showLeaderLines val="0"/>
          </c:dLbls>
          <c:cat>
            <c:multiLvlStrRef>
              <c:f>Sheet1!$A$2:$A$5</c:f>
              <c:multiLvlStrCache>
                <c:ptCount val="4"/>
                <c:lvl>
                  <c:pt idx="0">
                    <c:v>Young Adult</c:v>
                  </c:pt>
                  <c:pt idx="1">
                    <c:v>Middle-aged</c:v>
                  </c:pt>
                  <c:pt idx="2">
                    <c:v>Adult</c:v>
                  </c:pt>
                  <c:pt idx="3">
                    <c:v>Senior</c:v>
                  </c:pt>
                </c:lvl>
              </c:multiLvlStrCache>
            </c:multiLvlStrRef>
          </c:cat>
          <c:val>
            <c:numRef>
              <c:f>Sheet1!$B$2:$B$5</c:f>
              <c:numCache>
                <c:formatCode>General</c:formatCode>
                <c:ptCount val="4"/>
                <c:pt idx="0">
                  <c:v>62143</c:v>
                </c:pt>
                <c:pt idx="1">
                  <c:v>59197</c:v>
                </c:pt>
                <c:pt idx="2">
                  <c:v>55978</c:v>
                </c:pt>
                <c:pt idx="3">
                  <c:v>55763</c:v>
                </c:pt>
              </c:numCache>
            </c:numRef>
          </c:val>
        </c:ser>
        <c:dLbls>
          <c:numFmt formatCode="$#,##0" sourceLinked="0"/>
          <c:txPr>
            <a:bodyPr/>
            <a:lstStyle/>
            <a:p>
              <a:pPr>
                <a:defRPr b="1" i="0" strike="noStrike" sz="1200" u="none">
                  <a:solidFill>
                    <a:srgbClr val="2B2B33"/>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2B2B33"/>
                </a:solidFill>
                <a:latin typeface="Arial"/>
              </a:defRPr>
            </a:pPr>
            <a:endParaRPr lang="en-US"/>
          </a:p>
        </c:txPr>
        <c:crossAx val="2094734552"/>
        <c:crosses val="autoZero"/>
        <c:auto val="1"/>
        <c:lblAlgn val="ctr"/>
        <c:noMultiLvlLbl val="1"/>
      </c:catAx>
      <c:valAx>
        <c:axId val="2094734552"/>
        <c:scaling>
          <c:orientation val="minMax"/>
          <c:max val="65000"/>
          <c:min val="50000"/>
        </c:scaling>
        <c:delete val="0"/>
        <c:axPos val="l"/>
        <c:majorGridlines>
          <c:spPr>
            <a:ln w="9525" cap="flat">
              <a:solidFill>
                <a:srgbClr val="E5E5EA"/>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6E85"/>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F3C7E"/>
        </a:solidFill>
      </p:bgPr>
    </p:bg>
    <p:spTree>
      <p:nvGrpSpPr>
        <p:cNvPr id="1" name=""/>
        <p:cNvGrpSpPr/>
        <p:nvPr/>
      </p:nvGrpSpPr>
      <p:grpSpPr>
        <a:xfrm>
          <a:off x="0" y="0"/>
          <a:ext cx="0" cy="0"/>
          <a:chOff x="0" y="0"/>
          <a:chExt cx="0" cy="0"/>
        </a:xfrm>
      </p:grpSpPr>
      <p:sp>
        <p:nvSpPr>
          <p:cNvPr id="2" name="Shape 0"/>
          <p:cNvSpPr/>
          <p:nvPr/>
        </p:nvSpPr>
        <p:spPr>
          <a:xfrm>
            <a:off x="9418320" y="-2011680"/>
            <a:ext cx="5486400" cy="5486400"/>
          </a:xfrm>
          <a:prstGeom prst="ellipse">
            <a:avLst/>
          </a:prstGeom>
          <a:solidFill>
            <a:srgbClr val="212B5E"/>
          </a:solidFill>
          <a:ln/>
        </p:spPr>
      </p:sp>
      <p:sp>
        <p:nvSpPr>
          <p:cNvPr id="3" name="Shape 1"/>
          <p:cNvSpPr/>
          <p:nvPr/>
        </p:nvSpPr>
        <p:spPr>
          <a:xfrm>
            <a:off x="-2286000" y="4389120"/>
            <a:ext cx="4572000" cy="4572000"/>
          </a:xfrm>
          <a:prstGeom prst="ellipse">
            <a:avLst/>
          </a:prstGeom>
          <a:solidFill>
            <a:srgbClr val="212B5E"/>
          </a:solidFill>
          <a:ln/>
        </p:spPr>
      </p:sp>
      <p:sp>
        <p:nvSpPr>
          <p:cNvPr id="4" name="Text 2"/>
          <p:cNvSpPr/>
          <p:nvPr/>
        </p:nvSpPr>
        <p:spPr>
          <a:xfrm>
            <a:off x="822960" y="1828800"/>
            <a:ext cx="7315200" cy="365760"/>
          </a:xfrm>
          <a:prstGeom prst="rect">
            <a:avLst/>
          </a:prstGeom>
          <a:noFill/>
          <a:ln/>
        </p:spPr>
        <p:txBody>
          <a:bodyPr wrap="square" lIns="0" tIns="0" rIns="0" bIns="0" rtlCol="0" anchor="ctr"/>
          <a:lstStyle/>
          <a:p>
            <a:pPr indent="0" marL="0">
              <a:buNone/>
            </a:pPr>
            <a:r>
              <a:rPr lang="en-US" sz="1400" b="1" spc="200" kern="0" dirty="0">
                <a:solidFill>
                  <a:srgbClr val="F9E795"/>
                </a:solidFill>
                <a:latin typeface="Calibri" pitchFamily="34" charset="0"/>
                <a:ea typeface="Calibri" pitchFamily="34" charset="-122"/>
                <a:cs typeface="Calibri" pitchFamily="34" charset="-120"/>
              </a:rPr>
              <a:t>RETAIL ANALYTICS  •  2026</a:t>
            </a:r>
            <a:endParaRPr lang="en-US" sz="1400" dirty="0"/>
          </a:p>
        </p:txBody>
      </p:sp>
      <p:sp>
        <p:nvSpPr>
          <p:cNvPr id="5" name="Text 3"/>
          <p:cNvSpPr/>
          <p:nvPr/>
        </p:nvSpPr>
        <p:spPr>
          <a:xfrm>
            <a:off x="1005840" y="2286000"/>
            <a:ext cx="9418320" cy="1737360"/>
          </a:xfrm>
          <a:prstGeom prst="rect">
            <a:avLst/>
          </a:prstGeom>
          <a:noFill/>
          <a:ln/>
        </p:spPr>
        <p:txBody>
          <a:bodyPr wrap="square" lIns="0" tIns="0" rIns="0" bIns="0" rtlCol="0" anchor="ctr"/>
          <a:lstStyle/>
          <a:p>
            <a:pPr indent="0" marL="0">
              <a:lnSpc>
                <a:spcPct val="105000"/>
              </a:lnSpc>
              <a:buNone/>
            </a:pPr>
            <a:r>
              <a:rPr lang="en-US" sz="4400" b="1" dirty="0">
                <a:solidFill>
                  <a:srgbClr val="FFFFFF"/>
                </a:solidFill>
                <a:latin typeface="Cambria" pitchFamily="34" charset="0"/>
                <a:ea typeface="Cambria" pitchFamily="34" charset="-122"/>
                <a:cs typeface="Cambria" pitchFamily="34" charset="-120"/>
              </a:rPr>
              <a:t>Customer Shopping</a:t>
            </a:r>
            <a:endParaRPr lang="en-US" sz="4400" dirty="0"/>
          </a:p>
          <a:p>
            <a:pPr indent="0" marL="0">
              <a:lnSpc>
                <a:spcPct val="105000"/>
              </a:lnSpc>
              <a:buNone/>
            </a:pPr>
            <a:r>
              <a:rPr lang="en-US" sz="4400" b="1" dirty="0">
                <a:solidFill>
                  <a:srgbClr val="FFFFFF"/>
                </a:solidFill>
                <a:latin typeface="Cambria" pitchFamily="34" charset="0"/>
                <a:ea typeface="Cambria" pitchFamily="34" charset="-122"/>
                <a:cs typeface="Cambria" pitchFamily="34" charset="-120"/>
              </a:rPr>
              <a:t>Behavior Analysis</a:t>
            </a:r>
            <a:endParaRPr lang="en-US" sz="4400" dirty="0"/>
          </a:p>
        </p:txBody>
      </p:sp>
      <p:sp>
        <p:nvSpPr>
          <p:cNvPr id="6" name="Shape 4"/>
          <p:cNvSpPr/>
          <p:nvPr/>
        </p:nvSpPr>
        <p:spPr>
          <a:xfrm>
            <a:off x="822960" y="2377440"/>
            <a:ext cx="82296" cy="1280160"/>
          </a:xfrm>
          <a:prstGeom prst="rect">
            <a:avLst/>
          </a:prstGeom>
          <a:solidFill>
            <a:srgbClr val="F96167"/>
          </a:solidFill>
          <a:ln/>
        </p:spPr>
      </p:sp>
      <p:sp>
        <p:nvSpPr>
          <p:cNvPr id="7" name="Text 5"/>
          <p:cNvSpPr/>
          <p:nvPr/>
        </p:nvSpPr>
        <p:spPr>
          <a:xfrm>
            <a:off x="822960" y="4160520"/>
            <a:ext cx="8686800" cy="822960"/>
          </a:xfrm>
          <a:prstGeom prst="rect">
            <a:avLst/>
          </a:prstGeom>
          <a:noFill/>
          <a:ln/>
        </p:spPr>
        <p:txBody>
          <a:bodyPr wrap="square" lIns="0" tIns="0" rIns="0" bIns="0" rtlCol="0" anchor="ctr"/>
          <a:lstStyle/>
          <a:p>
            <a:pPr indent="0" marL="0">
              <a:lnSpc>
                <a:spcPct val="130000"/>
              </a:lnSpc>
              <a:buNone/>
            </a:pPr>
            <a:r>
              <a:rPr lang="en-US" sz="1600" dirty="0">
                <a:solidFill>
                  <a:srgbClr val="CBD3F2"/>
                </a:solidFill>
                <a:latin typeface="Calibri" pitchFamily="34" charset="0"/>
                <a:ea typeface="Calibri" pitchFamily="34" charset="-122"/>
                <a:cs typeface="Calibri" pitchFamily="34" charset="-120"/>
              </a:rPr>
              <a:t>Uncovering spending patterns, customer segments, and subscription</a:t>
            </a:r>
            <a:endParaRPr lang="en-US" sz="1600" dirty="0"/>
          </a:p>
          <a:p>
            <a:pPr indent="0" marL="0">
              <a:lnSpc>
                <a:spcPct val="130000"/>
              </a:lnSpc>
              <a:buNone/>
            </a:pPr>
            <a:r>
              <a:rPr lang="en-US" sz="1600" dirty="0">
                <a:solidFill>
                  <a:srgbClr val="CBD3F2"/>
                </a:solidFill>
                <a:latin typeface="Calibri" pitchFamily="34" charset="0"/>
                <a:ea typeface="Calibri" pitchFamily="34" charset="-122"/>
                <a:cs typeface="Calibri" pitchFamily="34" charset="-120"/>
              </a:rPr>
              <a:t>behavior across 3,900 transactions to guide strategic decisions.</a:t>
            </a:r>
            <a:endParaRPr lang="en-US" sz="1600" dirty="0"/>
          </a:p>
        </p:txBody>
      </p:sp>
      <p:sp>
        <p:nvSpPr>
          <p:cNvPr id="8" name="Text 6"/>
          <p:cNvSpPr/>
          <p:nvPr/>
        </p:nvSpPr>
        <p:spPr>
          <a:xfrm>
            <a:off x="822960" y="5989320"/>
            <a:ext cx="8229600" cy="365760"/>
          </a:xfrm>
          <a:prstGeom prst="rect">
            <a:avLst/>
          </a:prstGeom>
          <a:noFill/>
          <a:ln/>
        </p:spPr>
        <p:txBody>
          <a:bodyPr wrap="square" lIns="0" tIns="0" rIns="0" bIns="0" rtlCol="0" anchor="ctr"/>
          <a:lstStyle/>
          <a:p>
            <a:pPr indent="0" marL="0">
              <a:buNone/>
            </a:pPr>
            <a:r>
              <a:rPr lang="en-US" sz="1200" i="1" dirty="0">
                <a:solidFill>
                  <a:srgbClr val="8B94C9"/>
                </a:solidFill>
                <a:latin typeface="Calibri" pitchFamily="34" charset="0"/>
                <a:ea typeface="Calibri" pitchFamily="34" charset="-122"/>
                <a:cs typeface="Calibri" pitchFamily="34" charset="-120"/>
              </a:rPr>
              <a:t>Python (Pandas)  •  PostgreSQL  •  Power BI</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7315200" cy="640080"/>
          </a:xfrm>
          <a:prstGeom prst="rect">
            <a:avLst/>
          </a:prstGeom>
          <a:noFill/>
          <a:ln/>
        </p:spPr>
        <p:txBody>
          <a:bodyPr wrap="square" lIns="0" tIns="0" rIns="0" bIns="0" rtlCol="0" anchor="ctr"/>
          <a:lstStyle/>
          <a:p>
            <a:pPr algn="l" indent="0" marL="0">
              <a:buNone/>
            </a:pPr>
            <a:r>
              <a:rPr lang="en-US" sz="3000" b="1" dirty="0">
                <a:solidFill>
                  <a:srgbClr val="2F3C7E"/>
                </a:solidFill>
                <a:latin typeface="Cambria" pitchFamily="34" charset="0"/>
                <a:ea typeface="Cambria" pitchFamily="34" charset="-122"/>
                <a:cs typeface="Cambria" pitchFamily="34" charset="-120"/>
              </a:rPr>
              <a:t>Project Overview</a:t>
            </a:r>
            <a:endParaRPr lang="en-US" sz="3000" dirty="0"/>
          </a:p>
        </p:txBody>
      </p:sp>
      <p:sp>
        <p:nvSpPr>
          <p:cNvPr id="3" name="Shape 1"/>
          <p:cNvSpPr/>
          <p:nvPr/>
        </p:nvSpPr>
        <p:spPr>
          <a:xfrm>
            <a:off x="548640" y="1143000"/>
            <a:ext cx="1280160" cy="54864"/>
          </a:xfrm>
          <a:prstGeom prst="rect">
            <a:avLst/>
          </a:prstGeom>
          <a:solidFill>
            <a:srgbClr val="F96167"/>
          </a:solidFill>
          <a:ln/>
        </p:spPr>
      </p:sp>
      <p:sp>
        <p:nvSpPr>
          <p:cNvPr id="4" name="Text 2"/>
          <p:cNvSpPr/>
          <p:nvPr/>
        </p:nvSpPr>
        <p:spPr>
          <a:xfrm>
            <a:off x="548640" y="1417320"/>
            <a:ext cx="6492240" cy="2103120"/>
          </a:xfrm>
          <a:prstGeom prst="rect">
            <a:avLst/>
          </a:prstGeom>
          <a:noFill/>
          <a:ln/>
        </p:spPr>
        <p:txBody>
          <a:bodyPr wrap="square" lIns="0" tIns="0" rIns="0" bIns="0" rtlCol="0" anchor="t"/>
          <a:lstStyle/>
          <a:p>
            <a:pPr indent="0" marL="0">
              <a:lnSpc>
                <a:spcPct val="135000"/>
              </a:lnSpc>
              <a:buNone/>
            </a:pPr>
            <a:r>
              <a:rPr lang="en-US" sz="1500" dirty="0">
                <a:solidFill>
                  <a:srgbClr val="2B2B33"/>
                </a:solidFill>
                <a:latin typeface="Calibri" pitchFamily="34" charset="0"/>
                <a:ea typeface="Calibri" pitchFamily="34" charset="-122"/>
                <a:cs typeface="Calibri" pitchFamily="34" charset="-120"/>
              </a:rPr>
              <a:t>This project analyzes customer shopping behavior using transactional data from 3,900 purchases across various product categories. The goal is to uncover insights into spending patterns, customer segments, product preferences, and subscription behavior to guide strategic business decisions.</a:t>
            </a:r>
            <a:endParaRPr lang="en-US" sz="1500" dirty="0"/>
          </a:p>
        </p:txBody>
      </p:sp>
      <p:sp>
        <p:nvSpPr>
          <p:cNvPr id="5" name="Shape 3"/>
          <p:cNvSpPr/>
          <p:nvPr/>
        </p:nvSpPr>
        <p:spPr>
          <a:xfrm>
            <a:off x="548640" y="3931920"/>
            <a:ext cx="3108960" cy="1051560"/>
          </a:xfrm>
          <a:prstGeom prst="roundRect">
            <a:avLst>
              <a:gd name="adj" fmla="val 8696"/>
            </a:avLst>
          </a:prstGeom>
          <a:solidFill>
            <a:srgbClr val="F7F7FA"/>
          </a:solidFill>
          <a:ln/>
          <a:effectLst>
            <a:outerShdw sx="100000" sy="100000" kx="0" ky="0" algn="bl" rotWithShape="0" blurRad="76200" dist="25400" dir="5400000">
              <a:srgbClr val="000000">
                <a:alpha val="12000"/>
              </a:srgbClr>
            </a:outerShdw>
          </a:effectLst>
        </p:spPr>
      </p:sp>
      <p:sp>
        <p:nvSpPr>
          <p:cNvPr id="6" name="Text 4"/>
          <p:cNvSpPr/>
          <p:nvPr/>
        </p:nvSpPr>
        <p:spPr>
          <a:xfrm>
            <a:off x="731520" y="3931920"/>
            <a:ext cx="1188720" cy="1051560"/>
          </a:xfrm>
          <a:prstGeom prst="rect">
            <a:avLst/>
          </a:prstGeom>
          <a:noFill/>
          <a:ln/>
        </p:spPr>
        <p:txBody>
          <a:bodyPr wrap="square" lIns="0" tIns="0" rIns="0" bIns="0" rtlCol="0" anchor="ctr"/>
          <a:lstStyle/>
          <a:p>
            <a:pPr indent="0" marL="0">
              <a:buNone/>
            </a:pPr>
            <a:r>
              <a:rPr lang="en-US" sz="2800" b="1" dirty="0">
                <a:solidFill>
                  <a:srgbClr val="2F3C7E"/>
                </a:solidFill>
                <a:latin typeface="Cambria" pitchFamily="34" charset="0"/>
                <a:ea typeface="Cambria" pitchFamily="34" charset="-122"/>
                <a:cs typeface="Cambria" pitchFamily="34" charset="-120"/>
              </a:rPr>
              <a:t>3,900</a:t>
            </a:r>
            <a:endParaRPr lang="en-US" sz="2800" dirty="0"/>
          </a:p>
        </p:txBody>
      </p:sp>
      <p:sp>
        <p:nvSpPr>
          <p:cNvPr id="7" name="Text 5"/>
          <p:cNvSpPr/>
          <p:nvPr/>
        </p:nvSpPr>
        <p:spPr>
          <a:xfrm>
            <a:off x="1874520" y="3931920"/>
            <a:ext cx="1645920" cy="1051560"/>
          </a:xfrm>
          <a:prstGeom prst="rect">
            <a:avLst/>
          </a:prstGeom>
          <a:noFill/>
          <a:ln/>
        </p:spPr>
        <p:txBody>
          <a:bodyPr wrap="square" lIns="0" tIns="0" rIns="0" bIns="0" rtlCol="0" anchor="ctr"/>
          <a:lstStyle/>
          <a:p>
            <a:pPr indent="0" marL="0">
              <a:buNone/>
            </a:pPr>
            <a:r>
              <a:rPr lang="en-US" sz="1200" dirty="0">
                <a:solidFill>
                  <a:srgbClr val="6B6E85"/>
                </a:solidFill>
                <a:latin typeface="Calibri" pitchFamily="34" charset="0"/>
                <a:ea typeface="Calibri" pitchFamily="34" charset="-122"/>
                <a:cs typeface="Calibri" pitchFamily="34" charset="-120"/>
              </a:rPr>
              <a:t>Transactions</a:t>
            </a:r>
            <a:endParaRPr lang="en-US" sz="1200" dirty="0"/>
          </a:p>
        </p:txBody>
      </p:sp>
      <p:sp>
        <p:nvSpPr>
          <p:cNvPr id="8" name="Shape 6"/>
          <p:cNvSpPr/>
          <p:nvPr/>
        </p:nvSpPr>
        <p:spPr>
          <a:xfrm>
            <a:off x="3931920" y="3931920"/>
            <a:ext cx="3108960" cy="1051560"/>
          </a:xfrm>
          <a:prstGeom prst="roundRect">
            <a:avLst>
              <a:gd name="adj" fmla="val 8696"/>
            </a:avLst>
          </a:prstGeom>
          <a:solidFill>
            <a:srgbClr val="F7F7FA"/>
          </a:solidFill>
          <a:ln/>
          <a:effectLst>
            <a:outerShdw sx="100000" sy="100000" kx="0" ky="0" algn="bl" rotWithShape="0" blurRad="76200" dist="25400" dir="5400000">
              <a:srgbClr val="000000">
                <a:alpha val="12000"/>
              </a:srgbClr>
            </a:outerShdw>
          </a:effectLst>
        </p:spPr>
      </p:sp>
      <p:sp>
        <p:nvSpPr>
          <p:cNvPr id="9" name="Text 7"/>
          <p:cNvSpPr/>
          <p:nvPr/>
        </p:nvSpPr>
        <p:spPr>
          <a:xfrm>
            <a:off x="4114800" y="3931920"/>
            <a:ext cx="1188720" cy="1051560"/>
          </a:xfrm>
          <a:prstGeom prst="rect">
            <a:avLst/>
          </a:prstGeom>
          <a:noFill/>
          <a:ln/>
        </p:spPr>
        <p:txBody>
          <a:bodyPr wrap="square" lIns="0" tIns="0" rIns="0" bIns="0" rtlCol="0" anchor="ctr"/>
          <a:lstStyle/>
          <a:p>
            <a:pPr indent="0" marL="0">
              <a:buNone/>
            </a:pPr>
            <a:r>
              <a:rPr lang="en-US" sz="2800" b="1" dirty="0">
                <a:solidFill>
                  <a:srgbClr val="2F3C7E"/>
                </a:solidFill>
                <a:latin typeface="Cambria" pitchFamily="34" charset="0"/>
                <a:ea typeface="Cambria" pitchFamily="34" charset="-122"/>
                <a:cs typeface="Cambria" pitchFamily="34" charset="-120"/>
              </a:rPr>
              <a:t>18</a:t>
            </a:r>
            <a:endParaRPr lang="en-US" sz="2800" dirty="0"/>
          </a:p>
        </p:txBody>
      </p:sp>
      <p:sp>
        <p:nvSpPr>
          <p:cNvPr id="10" name="Text 8"/>
          <p:cNvSpPr/>
          <p:nvPr/>
        </p:nvSpPr>
        <p:spPr>
          <a:xfrm>
            <a:off x="5257800" y="3931920"/>
            <a:ext cx="1645920" cy="1051560"/>
          </a:xfrm>
          <a:prstGeom prst="rect">
            <a:avLst/>
          </a:prstGeom>
          <a:noFill/>
          <a:ln/>
        </p:spPr>
        <p:txBody>
          <a:bodyPr wrap="square" lIns="0" tIns="0" rIns="0" bIns="0" rtlCol="0" anchor="ctr"/>
          <a:lstStyle/>
          <a:p>
            <a:pPr indent="0" marL="0">
              <a:buNone/>
            </a:pPr>
            <a:r>
              <a:rPr lang="en-US" sz="1200" dirty="0">
                <a:solidFill>
                  <a:srgbClr val="6B6E85"/>
                </a:solidFill>
                <a:latin typeface="Calibri" pitchFamily="34" charset="0"/>
                <a:ea typeface="Calibri" pitchFamily="34" charset="-122"/>
                <a:cs typeface="Calibri" pitchFamily="34" charset="-120"/>
              </a:rPr>
              <a:t>Data Fields</a:t>
            </a:r>
            <a:endParaRPr lang="en-US" sz="1200" dirty="0"/>
          </a:p>
        </p:txBody>
      </p:sp>
      <p:sp>
        <p:nvSpPr>
          <p:cNvPr id="11" name="Shape 9"/>
          <p:cNvSpPr/>
          <p:nvPr/>
        </p:nvSpPr>
        <p:spPr>
          <a:xfrm>
            <a:off x="548640" y="5166360"/>
            <a:ext cx="3108960" cy="1051560"/>
          </a:xfrm>
          <a:prstGeom prst="roundRect">
            <a:avLst>
              <a:gd name="adj" fmla="val 8696"/>
            </a:avLst>
          </a:prstGeom>
          <a:solidFill>
            <a:srgbClr val="F7F7FA"/>
          </a:solidFill>
          <a:ln/>
          <a:effectLst>
            <a:outerShdw sx="100000" sy="100000" kx="0" ky="0" algn="bl" rotWithShape="0" blurRad="76200" dist="25400" dir="5400000">
              <a:srgbClr val="000000">
                <a:alpha val="12000"/>
              </a:srgbClr>
            </a:outerShdw>
          </a:effectLst>
        </p:spPr>
      </p:sp>
      <p:sp>
        <p:nvSpPr>
          <p:cNvPr id="12" name="Text 10"/>
          <p:cNvSpPr/>
          <p:nvPr/>
        </p:nvSpPr>
        <p:spPr>
          <a:xfrm>
            <a:off x="731520" y="5166360"/>
            <a:ext cx="1188720" cy="1051560"/>
          </a:xfrm>
          <a:prstGeom prst="rect">
            <a:avLst/>
          </a:prstGeom>
          <a:noFill/>
          <a:ln/>
        </p:spPr>
        <p:txBody>
          <a:bodyPr wrap="square" lIns="0" tIns="0" rIns="0" bIns="0" rtlCol="0" anchor="ctr"/>
          <a:lstStyle/>
          <a:p>
            <a:pPr indent="0" marL="0">
              <a:buNone/>
            </a:pPr>
            <a:r>
              <a:rPr lang="en-US" sz="2800" b="1" dirty="0">
                <a:solidFill>
                  <a:srgbClr val="2F3C7E"/>
                </a:solidFill>
                <a:latin typeface="Cambria" pitchFamily="34" charset="0"/>
                <a:ea typeface="Cambria" pitchFamily="34" charset="-122"/>
                <a:cs typeface="Cambria" pitchFamily="34" charset="-120"/>
              </a:rPr>
              <a:t>4</a:t>
            </a:r>
            <a:endParaRPr lang="en-US" sz="2800" dirty="0"/>
          </a:p>
        </p:txBody>
      </p:sp>
      <p:sp>
        <p:nvSpPr>
          <p:cNvPr id="13" name="Text 11"/>
          <p:cNvSpPr/>
          <p:nvPr/>
        </p:nvSpPr>
        <p:spPr>
          <a:xfrm>
            <a:off x="1874520" y="5166360"/>
            <a:ext cx="1645920" cy="1051560"/>
          </a:xfrm>
          <a:prstGeom prst="rect">
            <a:avLst/>
          </a:prstGeom>
          <a:noFill/>
          <a:ln/>
        </p:spPr>
        <p:txBody>
          <a:bodyPr wrap="square" lIns="0" tIns="0" rIns="0" bIns="0" rtlCol="0" anchor="ctr"/>
          <a:lstStyle/>
          <a:p>
            <a:pPr indent="0" marL="0">
              <a:buNone/>
            </a:pPr>
            <a:r>
              <a:rPr lang="en-US" sz="1200" dirty="0">
                <a:solidFill>
                  <a:srgbClr val="6B6E85"/>
                </a:solidFill>
                <a:latin typeface="Calibri" pitchFamily="34" charset="0"/>
                <a:ea typeface="Calibri" pitchFamily="34" charset="-122"/>
                <a:cs typeface="Calibri" pitchFamily="34" charset="-120"/>
              </a:rPr>
              <a:t>Categories</a:t>
            </a:r>
            <a:endParaRPr lang="en-US" sz="1200" dirty="0"/>
          </a:p>
        </p:txBody>
      </p:sp>
      <p:sp>
        <p:nvSpPr>
          <p:cNvPr id="14" name="Shape 12"/>
          <p:cNvSpPr/>
          <p:nvPr/>
        </p:nvSpPr>
        <p:spPr>
          <a:xfrm>
            <a:off x="3931920" y="5166360"/>
            <a:ext cx="3108960" cy="1051560"/>
          </a:xfrm>
          <a:prstGeom prst="roundRect">
            <a:avLst>
              <a:gd name="adj" fmla="val 8696"/>
            </a:avLst>
          </a:prstGeom>
          <a:solidFill>
            <a:srgbClr val="F7F7FA"/>
          </a:solidFill>
          <a:ln/>
          <a:effectLst>
            <a:outerShdw sx="100000" sy="100000" kx="0" ky="0" algn="bl" rotWithShape="0" blurRad="76200" dist="25400" dir="5400000">
              <a:srgbClr val="000000">
                <a:alpha val="12000"/>
              </a:srgbClr>
            </a:outerShdw>
          </a:effectLst>
        </p:spPr>
      </p:sp>
      <p:sp>
        <p:nvSpPr>
          <p:cNvPr id="15" name="Text 13"/>
          <p:cNvSpPr/>
          <p:nvPr/>
        </p:nvSpPr>
        <p:spPr>
          <a:xfrm>
            <a:off x="4114800" y="5166360"/>
            <a:ext cx="1188720" cy="1051560"/>
          </a:xfrm>
          <a:prstGeom prst="rect">
            <a:avLst/>
          </a:prstGeom>
          <a:noFill/>
          <a:ln/>
        </p:spPr>
        <p:txBody>
          <a:bodyPr wrap="square" lIns="0" tIns="0" rIns="0" bIns="0" rtlCol="0" anchor="ctr"/>
          <a:lstStyle/>
          <a:p>
            <a:pPr indent="0" marL="0">
              <a:buNone/>
            </a:pPr>
            <a:r>
              <a:rPr lang="en-US" sz="2800" b="1" dirty="0">
                <a:solidFill>
                  <a:srgbClr val="2F3C7E"/>
                </a:solidFill>
                <a:latin typeface="Cambria" pitchFamily="34" charset="0"/>
                <a:ea typeface="Cambria" pitchFamily="34" charset="-122"/>
                <a:cs typeface="Cambria" pitchFamily="34" charset="-120"/>
              </a:rPr>
              <a:t>50</a:t>
            </a:r>
            <a:endParaRPr lang="en-US" sz="2800" dirty="0"/>
          </a:p>
        </p:txBody>
      </p:sp>
      <p:sp>
        <p:nvSpPr>
          <p:cNvPr id="16" name="Text 14"/>
          <p:cNvSpPr/>
          <p:nvPr/>
        </p:nvSpPr>
        <p:spPr>
          <a:xfrm>
            <a:off x="5257800" y="5166360"/>
            <a:ext cx="1645920" cy="1051560"/>
          </a:xfrm>
          <a:prstGeom prst="rect">
            <a:avLst/>
          </a:prstGeom>
          <a:noFill/>
          <a:ln/>
        </p:spPr>
        <p:txBody>
          <a:bodyPr wrap="square" lIns="0" tIns="0" rIns="0" bIns="0" rtlCol="0" anchor="ctr"/>
          <a:lstStyle/>
          <a:p>
            <a:pPr indent="0" marL="0">
              <a:buNone/>
            </a:pPr>
            <a:r>
              <a:rPr lang="en-US" sz="1200" dirty="0">
                <a:solidFill>
                  <a:srgbClr val="6B6E85"/>
                </a:solidFill>
                <a:latin typeface="Calibri" pitchFamily="34" charset="0"/>
                <a:ea typeface="Calibri" pitchFamily="34" charset="-122"/>
                <a:cs typeface="Calibri" pitchFamily="34" charset="-120"/>
              </a:rPr>
              <a:t>Locations</a:t>
            </a:r>
            <a:endParaRPr lang="en-US" sz="1200" dirty="0"/>
          </a:p>
        </p:txBody>
      </p:sp>
      <p:sp>
        <p:nvSpPr>
          <p:cNvPr id="17" name="Shape 15"/>
          <p:cNvSpPr/>
          <p:nvPr/>
        </p:nvSpPr>
        <p:spPr>
          <a:xfrm>
            <a:off x="7452360" y="1143000"/>
            <a:ext cx="4206240" cy="5074920"/>
          </a:xfrm>
          <a:prstGeom prst="roundRect">
            <a:avLst>
              <a:gd name="adj" fmla="val 2609"/>
            </a:avLst>
          </a:prstGeom>
          <a:solidFill>
            <a:srgbClr val="2F3C7E"/>
          </a:solidFill>
          <a:ln/>
        </p:spPr>
      </p:sp>
      <p:sp>
        <p:nvSpPr>
          <p:cNvPr id="18" name="Text 16"/>
          <p:cNvSpPr/>
          <p:nvPr/>
        </p:nvSpPr>
        <p:spPr>
          <a:xfrm>
            <a:off x="7818120" y="1417320"/>
            <a:ext cx="3474720" cy="320040"/>
          </a:xfrm>
          <a:prstGeom prst="rect">
            <a:avLst/>
          </a:prstGeom>
          <a:noFill/>
          <a:ln/>
        </p:spPr>
        <p:txBody>
          <a:bodyPr wrap="square" lIns="0" tIns="0" rIns="0" bIns="0" rtlCol="0" anchor="ctr"/>
          <a:lstStyle/>
          <a:p>
            <a:pPr indent="0" marL="0">
              <a:buNone/>
            </a:pPr>
            <a:r>
              <a:rPr lang="en-US" sz="1200" b="1" spc="150" kern="0" dirty="0">
                <a:solidFill>
                  <a:srgbClr val="F9E795"/>
                </a:solidFill>
                <a:latin typeface="Calibri" pitchFamily="34" charset="0"/>
                <a:ea typeface="Calibri" pitchFamily="34" charset="-122"/>
                <a:cs typeface="Calibri" pitchFamily="34" charset="-120"/>
              </a:rPr>
              <a:t>DATA SNAPSHOT</a:t>
            </a:r>
            <a:endParaRPr lang="en-US" sz="1200" dirty="0"/>
          </a:p>
        </p:txBody>
      </p:sp>
      <p:sp>
        <p:nvSpPr>
          <p:cNvPr id="19" name="Text 17"/>
          <p:cNvSpPr/>
          <p:nvPr/>
        </p:nvSpPr>
        <p:spPr>
          <a:xfrm>
            <a:off x="7818120" y="1965960"/>
            <a:ext cx="2011680" cy="502920"/>
          </a:xfrm>
          <a:prstGeom prst="rect">
            <a:avLst/>
          </a:prstGeom>
          <a:noFill/>
          <a:ln/>
        </p:spPr>
        <p:txBody>
          <a:bodyPr wrap="square" lIns="0" tIns="0" rIns="0" bIns="0" rtlCol="0" anchor="ctr"/>
          <a:lstStyle/>
          <a:p>
            <a:pPr indent="0" marL="0">
              <a:buNone/>
            </a:pPr>
            <a:r>
              <a:rPr lang="en-US" sz="1300" dirty="0">
                <a:solidFill>
                  <a:srgbClr val="CBD3F2"/>
                </a:solidFill>
                <a:latin typeface="Calibri" pitchFamily="34" charset="0"/>
                <a:ea typeface="Calibri" pitchFamily="34" charset="-122"/>
                <a:cs typeface="Calibri" pitchFamily="34" charset="-120"/>
              </a:rPr>
              <a:t>Rows</a:t>
            </a:r>
            <a:endParaRPr lang="en-US" sz="1300" dirty="0"/>
          </a:p>
        </p:txBody>
      </p:sp>
      <p:sp>
        <p:nvSpPr>
          <p:cNvPr id="20" name="Text 18"/>
          <p:cNvSpPr/>
          <p:nvPr/>
        </p:nvSpPr>
        <p:spPr>
          <a:xfrm>
            <a:off x="9692640" y="1965960"/>
            <a:ext cx="1783080" cy="502920"/>
          </a:xfrm>
          <a:prstGeom prst="rect">
            <a:avLst/>
          </a:prstGeom>
          <a:noFill/>
          <a:ln/>
        </p:spPr>
        <p:txBody>
          <a:bodyPr wrap="square" lIns="0" tIns="0" rIns="0" bIns="0" rtlCol="0" anchor="ctr"/>
          <a:lstStyle/>
          <a:p>
            <a:pPr algn="r" indent="0" marL="0">
              <a:buNone/>
            </a:pPr>
            <a:r>
              <a:rPr lang="en-US" sz="1300" b="1" dirty="0">
                <a:solidFill>
                  <a:srgbClr val="FFFFFF"/>
                </a:solidFill>
                <a:latin typeface="Calibri" pitchFamily="34" charset="0"/>
                <a:ea typeface="Calibri" pitchFamily="34" charset="-122"/>
                <a:cs typeface="Calibri" pitchFamily="34" charset="-120"/>
              </a:rPr>
              <a:t>3,900</a:t>
            </a:r>
            <a:endParaRPr lang="en-US" sz="1300" dirty="0"/>
          </a:p>
        </p:txBody>
      </p:sp>
      <p:sp>
        <p:nvSpPr>
          <p:cNvPr id="21" name="Shape 19"/>
          <p:cNvSpPr/>
          <p:nvPr/>
        </p:nvSpPr>
        <p:spPr>
          <a:xfrm>
            <a:off x="7818120" y="2468880"/>
            <a:ext cx="3611880" cy="0"/>
          </a:xfrm>
          <a:prstGeom prst="line">
            <a:avLst/>
          </a:prstGeom>
          <a:noFill/>
          <a:ln w="9525">
            <a:solidFill>
              <a:srgbClr val="44508C"/>
            </a:solidFill>
            <a:prstDash val="solid"/>
          </a:ln>
        </p:spPr>
      </p:sp>
      <p:sp>
        <p:nvSpPr>
          <p:cNvPr id="22" name="Text 20"/>
          <p:cNvSpPr/>
          <p:nvPr/>
        </p:nvSpPr>
        <p:spPr>
          <a:xfrm>
            <a:off x="7818120" y="2624328"/>
            <a:ext cx="2011680" cy="502920"/>
          </a:xfrm>
          <a:prstGeom prst="rect">
            <a:avLst/>
          </a:prstGeom>
          <a:noFill/>
          <a:ln/>
        </p:spPr>
        <p:txBody>
          <a:bodyPr wrap="square" lIns="0" tIns="0" rIns="0" bIns="0" rtlCol="0" anchor="ctr"/>
          <a:lstStyle/>
          <a:p>
            <a:pPr indent="0" marL="0">
              <a:buNone/>
            </a:pPr>
            <a:r>
              <a:rPr lang="en-US" sz="1300" dirty="0">
                <a:solidFill>
                  <a:srgbClr val="CBD3F2"/>
                </a:solidFill>
                <a:latin typeface="Calibri" pitchFamily="34" charset="0"/>
                <a:ea typeface="Calibri" pitchFamily="34" charset="-122"/>
                <a:cs typeface="Calibri" pitchFamily="34" charset="-120"/>
              </a:rPr>
              <a:t>Columns</a:t>
            </a:r>
            <a:endParaRPr lang="en-US" sz="1300" dirty="0"/>
          </a:p>
        </p:txBody>
      </p:sp>
      <p:sp>
        <p:nvSpPr>
          <p:cNvPr id="23" name="Text 21"/>
          <p:cNvSpPr/>
          <p:nvPr/>
        </p:nvSpPr>
        <p:spPr>
          <a:xfrm>
            <a:off x="9692640" y="2624328"/>
            <a:ext cx="1783080" cy="502920"/>
          </a:xfrm>
          <a:prstGeom prst="rect">
            <a:avLst/>
          </a:prstGeom>
          <a:noFill/>
          <a:ln/>
        </p:spPr>
        <p:txBody>
          <a:bodyPr wrap="square" lIns="0" tIns="0" rIns="0" bIns="0" rtlCol="0" anchor="ctr"/>
          <a:lstStyle/>
          <a:p>
            <a:pPr algn="r" indent="0" marL="0">
              <a:buNone/>
            </a:pPr>
            <a:r>
              <a:rPr lang="en-US" sz="1300" b="1" dirty="0">
                <a:solidFill>
                  <a:srgbClr val="FFFFFF"/>
                </a:solidFill>
                <a:latin typeface="Calibri" pitchFamily="34" charset="0"/>
                <a:ea typeface="Calibri" pitchFamily="34" charset="-122"/>
                <a:cs typeface="Calibri" pitchFamily="34" charset="-120"/>
              </a:rPr>
              <a:t>18</a:t>
            </a:r>
            <a:endParaRPr lang="en-US" sz="1300" dirty="0"/>
          </a:p>
        </p:txBody>
      </p:sp>
      <p:sp>
        <p:nvSpPr>
          <p:cNvPr id="24" name="Shape 22"/>
          <p:cNvSpPr/>
          <p:nvPr/>
        </p:nvSpPr>
        <p:spPr>
          <a:xfrm>
            <a:off x="7818120" y="3127248"/>
            <a:ext cx="3611880" cy="0"/>
          </a:xfrm>
          <a:prstGeom prst="line">
            <a:avLst/>
          </a:prstGeom>
          <a:noFill/>
          <a:ln w="9525">
            <a:solidFill>
              <a:srgbClr val="44508C"/>
            </a:solidFill>
            <a:prstDash val="solid"/>
          </a:ln>
        </p:spPr>
      </p:sp>
      <p:sp>
        <p:nvSpPr>
          <p:cNvPr id="25" name="Text 23"/>
          <p:cNvSpPr/>
          <p:nvPr/>
        </p:nvSpPr>
        <p:spPr>
          <a:xfrm>
            <a:off x="7818120" y="3282696"/>
            <a:ext cx="2011680" cy="502920"/>
          </a:xfrm>
          <a:prstGeom prst="rect">
            <a:avLst/>
          </a:prstGeom>
          <a:noFill/>
          <a:ln/>
        </p:spPr>
        <p:txBody>
          <a:bodyPr wrap="square" lIns="0" tIns="0" rIns="0" bIns="0" rtlCol="0" anchor="ctr"/>
          <a:lstStyle/>
          <a:p>
            <a:pPr indent="0" marL="0">
              <a:buNone/>
            </a:pPr>
            <a:r>
              <a:rPr lang="en-US" sz="1300" dirty="0">
                <a:solidFill>
                  <a:srgbClr val="CBD3F2"/>
                </a:solidFill>
                <a:latin typeface="Calibri" pitchFamily="34" charset="0"/>
                <a:ea typeface="Calibri" pitchFamily="34" charset="-122"/>
                <a:cs typeface="Calibri" pitchFamily="34" charset="-120"/>
              </a:rPr>
              <a:t>Missing values</a:t>
            </a:r>
            <a:endParaRPr lang="en-US" sz="1300" dirty="0"/>
          </a:p>
        </p:txBody>
      </p:sp>
      <p:sp>
        <p:nvSpPr>
          <p:cNvPr id="26" name="Text 24"/>
          <p:cNvSpPr/>
          <p:nvPr/>
        </p:nvSpPr>
        <p:spPr>
          <a:xfrm>
            <a:off x="9692640" y="3282696"/>
            <a:ext cx="1783080" cy="502920"/>
          </a:xfrm>
          <a:prstGeom prst="rect">
            <a:avLst/>
          </a:prstGeom>
          <a:noFill/>
          <a:ln/>
        </p:spPr>
        <p:txBody>
          <a:bodyPr wrap="square" lIns="0" tIns="0" rIns="0" bIns="0" rtlCol="0" anchor="ctr"/>
          <a:lstStyle/>
          <a:p>
            <a:pPr algn="r" indent="0" marL="0">
              <a:buNone/>
            </a:pPr>
            <a:r>
              <a:rPr lang="en-US" sz="1300" b="1" dirty="0">
                <a:solidFill>
                  <a:srgbClr val="FFFFFF"/>
                </a:solidFill>
                <a:latin typeface="Calibri" pitchFamily="34" charset="0"/>
                <a:ea typeface="Calibri" pitchFamily="34" charset="-122"/>
                <a:cs typeface="Calibri" pitchFamily="34" charset="-120"/>
              </a:rPr>
              <a:t>37 (Review Rating)</a:t>
            </a:r>
            <a:endParaRPr lang="en-US" sz="1300" dirty="0"/>
          </a:p>
        </p:txBody>
      </p:sp>
      <p:sp>
        <p:nvSpPr>
          <p:cNvPr id="27" name="Shape 25"/>
          <p:cNvSpPr/>
          <p:nvPr/>
        </p:nvSpPr>
        <p:spPr>
          <a:xfrm>
            <a:off x="7818120" y="3785616"/>
            <a:ext cx="3611880" cy="0"/>
          </a:xfrm>
          <a:prstGeom prst="line">
            <a:avLst/>
          </a:prstGeom>
          <a:noFill/>
          <a:ln w="9525">
            <a:solidFill>
              <a:srgbClr val="44508C"/>
            </a:solidFill>
            <a:prstDash val="solid"/>
          </a:ln>
        </p:spPr>
      </p:sp>
      <p:sp>
        <p:nvSpPr>
          <p:cNvPr id="28" name="Text 26"/>
          <p:cNvSpPr/>
          <p:nvPr/>
        </p:nvSpPr>
        <p:spPr>
          <a:xfrm>
            <a:off x="7818120" y="3941064"/>
            <a:ext cx="2011680" cy="502920"/>
          </a:xfrm>
          <a:prstGeom prst="rect">
            <a:avLst/>
          </a:prstGeom>
          <a:noFill/>
          <a:ln/>
        </p:spPr>
        <p:txBody>
          <a:bodyPr wrap="square" lIns="0" tIns="0" rIns="0" bIns="0" rtlCol="0" anchor="ctr"/>
          <a:lstStyle/>
          <a:p>
            <a:pPr indent="0" marL="0">
              <a:buNone/>
            </a:pPr>
            <a:r>
              <a:rPr lang="en-US" sz="1300" dirty="0">
                <a:solidFill>
                  <a:srgbClr val="CBD3F2"/>
                </a:solidFill>
                <a:latin typeface="Calibri" pitchFamily="34" charset="0"/>
                <a:ea typeface="Calibri" pitchFamily="34" charset="-122"/>
                <a:cs typeface="Calibri" pitchFamily="34" charset="-120"/>
              </a:rPr>
              <a:t>Avg. purchase</a:t>
            </a:r>
            <a:endParaRPr lang="en-US" sz="1300" dirty="0"/>
          </a:p>
        </p:txBody>
      </p:sp>
      <p:sp>
        <p:nvSpPr>
          <p:cNvPr id="29" name="Text 27"/>
          <p:cNvSpPr/>
          <p:nvPr/>
        </p:nvSpPr>
        <p:spPr>
          <a:xfrm>
            <a:off x="9692640" y="3941064"/>
            <a:ext cx="1783080" cy="502920"/>
          </a:xfrm>
          <a:prstGeom prst="rect">
            <a:avLst/>
          </a:prstGeom>
          <a:noFill/>
          <a:ln/>
        </p:spPr>
        <p:txBody>
          <a:bodyPr wrap="square" lIns="0" tIns="0" rIns="0" bIns="0" rtlCol="0" anchor="ctr"/>
          <a:lstStyle/>
          <a:p>
            <a:pPr algn="r" indent="0" marL="0">
              <a:buNone/>
            </a:pPr>
            <a:r>
              <a:rPr lang="en-US" sz="1300" b="1" dirty="0">
                <a:solidFill>
                  <a:srgbClr val="FFFFFF"/>
                </a:solidFill>
                <a:latin typeface="Calibri" pitchFamily="34" charset="0"/>
                <a:ea typeface="Calibri" pitchFamily="34" charset="-122"/>
                <a:cs typeface="Calibri" pitchFamily="34" charset="-120"/>
              </a:rPr>
              <a:t>$59.76</a:t>
            </a:r>
            <a:endParaRPr lang="en-US" sz="1300" dirty="0"/>
          </a:p>
        </p:txBody>
      </p:sp>
      <p:sp>
        <p:nvSpPr>
          <p:cNvPr id="30" name="Shape 28"/>
          <p:cNvSpPr/>
          <p:nvPr/>
        </p:nvSpPr>
        <p:spPr>
          <a:xfrm>
            <a:off x="7818120" y="4443984"/>
            <a:ext cx="3611880" cy="0"/>
          </a:xfrm>
          <a:prstGeom prst="line">
            <a:avLst/>
          </a:prstGeom>
          <a:noFill/>
          <a:ln w="9525">
            <a:solidFill>
              <a:srgbClr val="44508C"/>
            </a:solidFill>
            <a:prstDash val="solid"/>
          </a:ln>
        </p:spPr>
      </p:sp>
      <p:sp>
        <p:nvSpPr>
          <p:cNvPr id="31" name="Text 29"/>
          <p:cNvSpPr/>
          <p:nvPr/>
        </p:nvSpPr>
        <p:spPr>
          <a:xfrm>
            <a:off x="7818120" y="4599432"/>
            <a:ext cx="2011680" cy="502920"/>
          </a:xfrm>
          <a:prstGeom prst="rect">
            <a:avLst/>
          </a:prstGeom>
          <a:noFill/>
          <a:ln/>
        </p:spPr>
        <p:txBody>
          <a:bodyPr wrap="square" lIns="0" tIns="0" rIns="0" bIns="0" rtlCol="0" anchor="ctr"/>
          <a:lstStyle/>
          <a:p>
            <a:pPr indent="0" marL="0">
              <a:buNone/>
            </a:pPr>
            <a:r>
              <a:rPr lang="en-US" sz="1300" dirty="0">
                <a:solidFill>
                  <a:srgbClr val="CBD3F2"/>
                </a:solidFill>
                <a:latin typeface="Calibri" pitchFamily="34" charset="0"/>
                <a:ea typeface="Calibri" pitchFamily="34" charset="-122"/>
                <a:cs typeface="Calibri" pitchFamily="34" charset="-120"/>
              </a:rPr>
              <a:t>Avg. review rating</a:t>
            </a:r>
            <a:endParaRPr lang="en-US" sz="1300" dirty="0"/>
          </a:p>
        </p:txBody>
      </p:sp>
      <p:sp>
        <p:nvSpPr>
          <p:cNvPr id="32" name="Text 30"/>
          <p:cNvSpPr/>
          <p:nvPr/>
        </p:nvSpPr>
        <p:spPr>
          <a:xfrm>
            <a:off x="9692640" y="4599432"/>
            <a:ext cx="1783080" cy="502920"/>
          </a:xfrm>
          <a:prstGeom prst="rect">
            <a:avLst/>
          </a:prstGeom>
          <a:noFill/>
          <a:ln/>
        </p:spPr>
        <p:txBody>
          <a:bodyPr wrap="square" lIns="0" tIns="0" rIns="0" bIns="0" rtlCol="0" anchor="ctr"/>
          <a:lstStyle/>
          <a:p>
            <a:pPr algn="r" indent="0" marL="0">
              <a:buNone/>
            </a:pPr>
            <a:r>
              <a:rPr lang="en-US" sz="1300" b="1" dirty="0">
                <a:solidFill>
                  <a:srgbClr val="FFFFFF"/>
                </a:solidFill>
                <a:latin typeface="Calibri" pitchFamily="34" charset="0"/>
                <a:ea typeface="Calibri" pitchFamily="34" charset="-122"/>
                <a:cs typeface="Calibri" pitchFamily="34" charset="-120"/>
              </a:rPr>
              <a:t>3.75 / 5</a:t>
            </a:r>
            <a:endParaRPr lang="en-US" sz="1300" dirty="0"/>
          </a:p>
        </p:txBody>
      </p:sp>
      <p:sp>
        <p:nvSpPr>
          <p:cNvPr id="33" name="Shape 31"/>
          <p:cNvSpPr/>
          <p:nvPr/>
        </p:nvSpPr>
        <p:spPr>
          <a:xfrm>
            <a:off x="7818120" y="5102352"/>
            <a:ext cx="3611880" cy="0"/>
          </a:xfrm>
          <a:prstGeom prst="line">
            <a:avLst/>
          </a:prstGeom>
          <a:noFill/>
          <a:ln w="9525">
            <a:solidFill>
              <a:srgbClr val="44508C"/>
            </a:solidFill>
            <a:prstDash val="solid"/>
          </a:ln>
        </p:spPr>
      </p:sp>
      <p:sp>
        <p:nvSpPr>
          <p:cNvPr id="34" name="Text 32"/>
          <p:cNvSpPr/>
          <p:nvPr/>
        </p:nvSpPr>
        <p:spPr>
          <a:xfrm>
            <a:off x="7818120" y="5257800"/>
            <a:ext cx="2011680" cy="502920"/>
          </a:xfrm>
          <a:prstGeom prst="rect">
            <a:avLst/>
          </a:prstGeom>
          <a:noFill/>
          <a:ln/>
        </p:spPr>
        <p:txBody>
          <a:bodyPr wrap="square" lIns="0" tIns="0" rIns="0" bIns="0" rtlCol="0" anchor="ctr"/>
          <a:lstStyle/>
          <a:p>
            <a:pPr indent="0" marL="0">
              <a:buNone/>
            </a:pPr>
            <a:r>
              <a:rPr lang="en-US" sz="1300" dirty="0">
                <a:solidFill>
                  <a:srgbClr val="CBD3F2"/>
                </a:solidFill>
                <a:latin typeface="Calibri" pitchFamily="34" charset="0"/>
                <a:ea typeface="Calibri" pitchFamily="34" charset="-122"/>
                <a:cs typeface="Calibri" pitchFamily="34" charset="-120"/>
              </a:rPr>
              <a:t>Subscribers</a:t>
            </a:r>
            <a:endParaRPr lang="en-US" sz="1300" dirty="0"/>
          </a:p>
        </p:txBody>
      </p:sp>
      <p:sp>
        <p:nvSpPr>
          <p:cNvPr id="35" name="Text 33"/>
          <p:cNvSpPr/>
          <p:nvPr/>
        </p:nvSpPr>
        <p:spPr>
          <a:xfrm>
            <a:off x="9692640" y="5257800"/>
            <a:ext cx="1783080" cy="502920"/>
          </a:xfrm>
          <a:prstGeom prst="rect">
            <a:avLst/>
          </a:prstGeom>
          <a:noFill/>
          <a:ln/>
        </p:spPr>
        <p:txBody>
          <a:bodyPr wrap="square" lIns="0" tIns="0" rIns="0" bIns="0" rtlCol="0" anchor="ctr"/>
          <a:lstStyle/>
          <a:p>
            <a:pPr algn="r" indent="0" marL="0">
              <a:buNone/>
            </a:pPr>
            <a:r>
              <a:rPr lang="en-US" sz="1300" b="1" dirty="0">
                <a:solidFill>
                  <a:srgbClr val="FFFFFF"/>
                </a:solidFill>
                <a:latin typeface="Calibri" pitchFamily="34" charset="0"/>
                <a:ea typeface="Calibri" pitchFamily="34" charset="-122"/>
                <a:cs typeface="Calibri" pitchFamily="34" charset="-120"/>
              </a:rPr>
              <a:t>1,053 (27%)</a:t>
            </a:r>
            <a:endParaRPr lang="en-US" sz="1300" dirty="0"/>
          </a:p>
        </p:txBody>
      </p:sp>
      <p:sp>
        <p:nvSpPr>
          <p:cNvPr id="36" name="Shape 34"/>
          <p:cNvSpPr/>
          <p:nvPr/>
        </p:nvSpPr>
        <p:spPr>
          <a:xfrm>
            <a:off x="7818120" y="5760720"/>
            <a:ext cx="3611880" cy="0"/>
          </a:xfrm>
          <a:prstGeom prst="line">
            <a:avLst/>
          </a:prstGeom>
          <a:noFill/>
          <a:ln w="9525">
            <a:solidFill>
              <a:srgbClr val="44508C"/>
            </a:solidFill>
            <a:prstDash val="solid"/>
          </a:ln>
        </p:spPr>
      </p:sp>
      <p:sp>
        <p:nvSpPr>
          <p:cNvPr id="37" name="Text 35"/>
          <p:cNvSpPr/>
          <p:nvPr/>
        </p:nvSpPr>
        <p:spPr>
          <a:xfrm>
            <a:off x="457200" y="6519672"/>
            <a:ext cx="7315200" cy="274320"/>
          </a:xfrm>
          <a:prstGeom prst="rect">
            <a:avLst/>
          </a:prstGeom>
          <a:noFill/>
          <a:ln/>
        </p:spPr>
        <p:txBody>
          <a:bodyPr wrap="square" lIns="0" tIns="0" rIns="0" bIns="0" rtlCol="0" anchor="ctr"/>
          <a:lstStyle/>
          <a:p>
            <a:pPr indent="0" marL="0">
              <a:buNone/>
            </a:pPr>
            <a:r>
              <a:rPr lang="en-US" sz="900" i="1" dirty="0">
                <a:solidFill>
                  <a:srgbClr val="6B6E85"/>
                </a:solidFill>
                <a:latin typeface="Calibri" pitchFamily="34" charset="0"/>
                <a:ea typeface="Calibri" pitchFamily="34" charset="-122"/>
                <a:cs typeface="Calibri" pitchFamily="34" charset="-120"/>
              </a:rPr>
              <a:t>Customer Shopping Behavior Analysis</a:t>
            </a:r>
            <a:endParaRPr lang="en-US" sz="900" dirty="0"/>
          </a:p>
        </p:txBody>
      </p:sp>
      <p:sp>
        <p:nvSpPr>
          <p:cNvPr id="38" name="Text 36"/>
          <p:cNvSpPr/>
          <p:nvPr/>
        </p:nvSpPr>
        <p:spPr>
          <a:xfrm>
            <a:off x="11274552" y="6519672"/>
            <a:ext cx="457200" cy="274320"/>
          </a:xfrm>
          <a:prstGeom prst="rect">
            <a:avLst/>
          </a:prstGeom>
          <a:noFill/>
          <a:ln/>
        </p:spPr>
        <p:txBody>
          <a:bodyPr wrap="square" lIns="0" tIns="0" rIns="0" bIns="0" rtlCol="0" anchor="ctr"/>
          <a:lstStyle/>
          <a:p>
            <a:pPr algn="r" indent="0" marL="0">
              <a:buNone/>
            </a:pPr>
            <a:r>
              <a:rPr lang="en-US" sz="900" dirty="0">
                <a:solidFill>
                  <a:srgbClr val="6B6E85"/>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7315200" cy="640080"/>
          </a:xfrm>
          <a:prstGeom prst="rect">
            <a:avLst/>
          </a:prstGeom>
          <a:noFill/>
          <a:ln/>
        </p:spPr>
        <p:txBody>
          <a:bodyPr wrap="square" lIns="0" tIns="0" rIns="0" bIns="0" rtlCol="0" anchor="ctr"/>
          <a:lstStyle/>
          <a:p>
            <a:pPr algn="l" indent="0" marL="0">
              <a:buNone/>
            </a:pPr>
            <a:r>
              <a:rPr lang="en-US" sz="3000" b="1" dirty="0">
                <a:solidFill>
                  <a:srgbClr val="2F3C7E"/>
                </a:solidFill>
                <a:latin typeface="Cambria" pitchFamily="34" charset="0"/>
                <a:ea typeface="Cambria" pitchFamily="34" charset="-122"/>
                <a:cs typeface="Cambria" pitchFamily="34" charset="-120"/>
              </a:rPr>
              <a:t>Dataset Summary</a:t>
            </a:r>
            <a:endParaRPr lang="en-US" sz="3000" dirty="0"/>
          </a:p>
        </p:txBody>
      </p:sp>
      <p:sp>
        <p:nvSpPr>
          <p:cNvPr id="3" name="Shape 1"/>
          <p:cNvSpPr/>
          <p:nvPr/>
        </p:nvSpPr>
        <p:spPr>
          <a:xfrm>
            <a:off x="548640" y="1143000"/>
            <a:ext cx="1280160" cy="54864"/>
          </a:xfrm>
          <a:prstGeom prst="rect">
            <a:avLst/>
          </a:prstGeom>
          <a:solidFill>
            <a:srgbClr val="F96167"/>
          </a:solidFill>
          <a:ln/>
        </p:spPr>
      </p:sp>
      <p:sp>
        <p:nvSpPr>
          <p:cNvPr id="4" name="Text 2"/>
          <p:cNvSpPr/>
          <p:nvPr/>
        </p:nvSpPr>
        <p:spPr>
          <a:xfrm>
            <a:off x="548640" y="1325880"/>
            <a:ext cx="10515600" cy="457200"/>
          </a:xfrm>
          <a:prstGeom prst="rect">
            <a:avLst/>
          </a:prstGeom>
          <a:noFill/>
          <a:ln/>
        </p:spPr>
        <p:txBody>
          <a:bodyPr wrap="square" lIns="0" tIns="0" rIns="0" bIns="0" rtlCol="0" anchor="ctr"/>
          <a:lstStyle/>
          <a:p>
            <a:pPr indent="0" marL="0">
              <a:buNone/>
            </a:pPr>
            <a:r>
              <a:rPr lang="en-US" sz="1400" dirty="0">
                <a:solidFill>
                  <a:srgbClr val="6B6E85"/>
                </a:solidFill>
                <a:latin typeface="Calibri" pitchFamily="34" charset="0"/>
                <a:ea typeface="Calibri" pitchFamily="34" charset="-122"/>
                <a:cs typeface="Calibri" pitchFamily="34" charset="-120"/>
              </a:rPr>
              <a:t>18 columns grouped into three feature families, covering who the customer is, what they bought, and how they shop.</a:t>
            </a:r>
            <a:endParaRPr lang="en-US" sz="1400" dirty="0"/>
          </a:p>
        </p:txBody>
      </p:sp>
      <p:sp>
        <p:nvSpPr>
          <p:cNvPr id="5" name="Shape 3"/>
          <p:cNvSpPr/>
          <p:nvPr/>
        </p:nvSpPr>
        <p:spPr>
          <a:xfrm>
            <a:off x="548640" y="2148840"/>
            <a:ext cx="3520440" cy="3977640"/>
          </a:xfrm>
          <a:prstGeom prst="roundRect">
            <a:avLst>
              <a:gd name="adj" fmla="val 3117"/>
            </a:avLst>
          </a:prstGeom>
          <a:solidFill>
            <a:srgbClr val="F7F7FA"/>
          </a:solidFill>
          <a:ln/>
          <a:effectLst>
            <a:outerShdw sx="100000" sy="100000" kx="0" ky="0" algn="bl" rotWithShape="0" blurRad="76200" dist="25400" dir="5400000">
              <a:srgbClr val="000000">
                <a:alpha val="10000"/>
              </a:srgbClr>
            </a:outerShdw>
          </a:effectLst>
        </p:spPr>
      </p:sp>
      <p:sp>
        <p:nvSpPr>
          <p:cNvPr id="6" name="Shape 4"/>
          <p:cNvSpPr/>
          <p:nvPr/>
        </p:nvSpPr>
        <p:spPr>
          <a:xfrm>
            <a:off x="822960" y="2468880"/>
            <a:ext cx="640080" cy="640080"/>
          </a:xfrm>
          <a:prstGeom prst="ellipse">
            <a:avLst/>
          </a:prstGeom>
          <a:solidFill>
            <a:srgbClr val="2F3C7E"/>
          </a:solidFill>
          <a:ln/>
        </p:spPr>
      </p:sp>
      <p:sp>
        <p:nvSpPr>
          <p:cNvPr id="7" name="Text 5"/>
          <p:cNvSpPr/>
          <p:nvPr/>
        </p:nvSpPr>
        <p:spPr>
          <a:xfrm>
            <a:off x="822960" y="2468880"/>
            <a:ext cx="640080" cy="640080"/>
          </a:xfrm>
          <a:prstGeom prst="rect">
            <a:avLst/>
          </a:prstGeom>
          <a:noFill/>
          <a:ln/>
        </p:spPr>
        <p:txBody>
          <a:bodyPr wrap="square" lIns="0" tIns="0" rIns="0" bIns="0" rtlCol="0" anchor="ctr"/>
          <a:lstStyle/>
          <a:p>
            <a:pPr algn="ctr" indent="0" marL="0">
              <a:buNone/>
            </a:pPr>
            <a:r>
              <a:rPr lang="en-US" sz="2400" dirty="0">
                <a:solidFill>
                  <a:srgbClr val="000000"/>
                </a:solidFill>
              </a:rPr>
              <a:t>👤</a:t>
            </a:r>
            <a:endParaRPr lang="en-US" sz="2400" dirty="0"/>
          </a:p>
        </p:txBody>
      </p:sp>
      <p:sp>
        <p:nvSpPr>
          <p:cNvPr id="8" name="Text 6"/>
          <p:cNvSpPr/>
          <p:nvPr/>
        </p:nvSpPr>
        <p:spPr>
          <a:xfrm>
            <a:off x="822960" y="3246120"/>
            <a:ext cx="2971800" cy="548640"/>
          </a:xfrm>
          <a:prstGeom prst="rect">
            <a:avLst/>
          </a:prstGeom>
          <a:noFill/>
          <a:ln/>
        </p:spPr>
        <p:txBody>
          <a:bodyPr wrap="square" lIns="0" tIns="0" rIns="0" bIns="0" rtlCol="0" anchor="ctr"/>
          <a:lstStyle/>
          <a:p>
            <a:pPr indent="0" marL="0">
              <a:buNone/>
            </a:pPr>
            <a:r>
              <a:rPr lang="en-US" sz="1600" b="1" dirty="0">
                <a:solidFill>
                  <a:srgbClr val="2F3C7E"/>
                </a:solidFill>
                <a:latin typeface="Cambria" pitchFamily="34" charset="0"/>
                <a:ea typeface="Cambria" pitchFamily="34" charset="-122"/>
                <a:cs typeface="Cambria" pitchFamily="34" charset="-120"/>
              </a:rPr>
              <a:t>Customer Demographics</a:t>
            </a:r>
            <a:endParaRPr lang="en-US" sz="1600" dirty="0"/>
          </a:p>
        </p:txBody>
      </p:sp>
      <p:sp>
        <p:nvSpPr>
          <p:cNvPr id="9" name="Shape 7"/>
          <p:cNvSpPr/>
          <p:nvPr/>
        </p:nvSpPr>
        <p:spPr>
          <a:xfrm>
            <a:off x="841248" y="3959352"/>
            <a:ext cx="82296" cy="82296"/>
          </a:xfrm>
          <a:prstGeom prst="ellipse">
            <a:avLst/>
          </a:prstGeom>
          <a:solidFill>
            <a:srgbClr val="F96167"/>
          </a:solidFill>
          <a:ln/>
        </p:spPr>
      </p:sp>
      <p:sp>
        <p:nvSpPr>
          <p:cNvPr id="10" name="Text 8"/>
          <p:cNvSpPr/>
          <p:nvPr/>
        </p:nvSpPr>
        <p:spPr>
          <a:xfrm>
            <a:off x="1051560" y="3886200"/>
            <a:ext cx="2743200" cy="502920"/>
          </a:xfrm>
          <a:prstGeom prst="rect">
            <a:avLst/>
          </a:prstGeom>
          <a:noFill/>
          <a:ln/>
        </p:spPr>
        <p:txBody>
          <a:bodyPr wrap="square" lIns="0" tIns="0" rIns="0" bIns="0" rtlCol="0" anchor="t"/>
          <a:lstStyle/>
          <a:p>
            <a:pPr indent="0" marL="0">
              <a:lnSpc>
                <a:spcPct val="115000"/>
              </a:lnSpc>
              <a:buNone/>
            </a:pPr>
            <a:r>
              <a:rPr lang="en-US" sz="1250" dirty="0">
                <a:solidFill>
                  <a:srgbClr val="2B2B33"/>
                </a:solidFill>
                <a:latin typeface="Calibri" pitchFamily="34" charset="0"/>
                <a:ea typeface="Calibri" pitchFamily="34" charset="-122"/>
                <a:cs typeface="Calibri" pitchFamily="34" charset="-120"/>
              </a:rPr>
              <a:t>Age</a:t>
            </a:r>
            <a:endParaRPr lang="en-US" sz="1250" dirty="0"/>
          </a:p>
        </p:txBody>
      </p:sp>
      <p:sp>
        <p:nvSpPr>
          <p:cNvPr id="11" name="Shape 9"/>
          <p:cNvSpPr/>
          <p:nvPr/>
        </p:nvSpPr>
        <p:spPr>
          <a:xfrm>
            <a:off x="841248" y="4526280"/>
            <a:ext cx="82296" cy="82296"/>
          </a:xfrm>
          <a:prstGeom prst="ellipse">
            <a:avLst/>
          </a:prstGeom>
          <a:solidFill>
            <a:srgbClr val="F96167"/>
          </a:solidFill>
          <a:ln/>
        </p:spPr>
      </p:sp>
      <p:sp>
        <p:nvSpPr>
          <p:cNvPr id="12" name="Text 10"/>
          <p:cNvSpPr/>
          <p:nvPr/>
        </p:nvSpPr>
        <p:spPr>
          <a:xfrm>
            <a:off x="1051560" y="4453128"/>
            <a:ext cx="2743200" cy="502920"/>
          </a:xfrm>
          <a:prstGeom prst="rect">
            <a:avLst/>
          </a:prstGeom>
          <a:noFill/>
          <a:ln/>
        </p:spPr>
        <p:txBody>
          <a:bodyPr wrap="square" lIns="0" tIns="0" rIns="0" bIns="0" rtlCol="0" anchor="t"/>
          <a:lstStyle/>
          <a:p>
            <a:pPr indent="0" marL="0">
              <a:lnSpc>
                <a:spcPct val="115000"/>
              </a:lnSpc>
              <a:buNone/>
            </a:pPr>
            <a:r>
              <a:rPr lang="en-US" sz="1250" dirty="0">
                <a:solidFill>
                  <a:srgbClr val="2B2B33"/>
                </a:solidFill>
                <a:latin typeface="Calibri" pitchFamily="34" charset="0"/>
                <a:ea typeface="Calibri" pitchFamily="34" charset="-122"/>
                <a:cs typeface="Calibri" pitchFamily="34" charset="-120"/>
              </a:rPr>
              <a:t>Gender</a:t>
            </a:r>
            <a:endParaRPr lang="en-US" sz="1250" dirty="0"/>
          </a:p>
        </p:txBody>
      </p:sp>
      <p:sp>
        <p:nvSpPr>
          <p:cNvPr id="13" name="Shape 11"/>
          <p:cNvSpPr/>
          <p:nvPr/>
        </p:nvSpPr>
        <p:spPr>
          <a:xfrm>
            <a:off x="841248" y="5093208"/>
            <a:ext cx="82296" cy="82296"/>
          </a:xfrm>
          <a:prstGeom prst="ellipse">
            <a:avLst/>
          </a:prstGeom>
          <a:solidFill>
            <a:srgbClr val="F96167"/>
          </a:solidFill>
          <a:ln/>
        </p:spPr>
      </p:sp>
      <p:sp>
        <p:nvSpPr>
          <p:cNvPr id="14" name="Text 12"/>
          <p:cNvSpPr/>
          <p:nvPr/>
        </p:nvSpPr>
        <p:spPr>
          <a:xfrm>
            <a:off x="1051560" y="5020056"/>
            <a:ext cx="2743200" cy="502920"/>
          </a:xfrm>
          <a:prstGeom prst="rect">
            <a:avLst/>
          </a:prstGeom>
          <a:noFill/>
          <a:ln/>
        </p:spPr>
        <p:txBody>
          <a:bodyPr wrap="square" lIns="0" tIns="0" rIns="0" bIns="0" rtlCol="0" anchor="t"/>
          <a:lstStyle/>
          <a:p>
            <a:pPr indent="0" marL="0">
              <a:lnSpc>
                <a:spcPct val="115000"/>
              </a:lnSpc>
              <a:buNone/>
            </a:pPr>
            <a:r>
              <a:rPr lang="en-US" sz="1250" dirty="0">
                <a:solidFill>
                  <a:srgbClr val="2B2B33"/>
                </a:solidFill>
                <a:latin typeface="Calibri" pitchFamily="34" charset="0"/>
                <a:ea typeface="Calibri" pitchFamily="34" charset="-122"/>
                <a:cs typeface="Calibri" pitchFamily="34" charset="-120"/>
              </a:rPr>
              <a:t>Location</a:t>
            </a:r>
            <a:endParaRPr lang="en-US" sz="1250" dirty="0"/>
          </a:p>
        </p:txBody>
      </p:sp>
      <p:sp>
        <p:nvSpPr>
          <p:cNvPr id="15" name="Shape 13"/>
          <p:cNvSpPr/>
          <p:nvPr/>
        </p:nvSpPr>
        <p:spPr>
          <a:xfrm>
            <a:off x="841248" y="5660136"/>
            <a:ext cx="82296" cy="82296"/>
          </a:xfrm>
          <a:prstGeom prst="ellipse">
            <a:avLst/>
          </a:prstGeom>
          <a:solidFill>
            <a:srgbClr val="F96167"/>
          </a:solidFill>
          <a:ln/>
        </p:spPr>
      </p:sp>
      <p:sp>
        <p:nvSpPr>
          <p:cNvPr id="16" name="Text 14"/>
          <p:cNvSpPr/>
          <p:nvPr/>
        </p:nvSpPr>
        <p:spPr>
          <a:xfrm>
            <a:off x="1051560" y="5586984"/>
            <a:ext cx="2743200" cy="502920"/>
          </a:xfrm>
          <a:prstGeom prst="rect">
            <a:avLst/>
          </a:prstGeom>
          <a:noFill/>
          <a:ln/>
        </p:spPr>
        <p:txBody>
          <a:bodyPr wrap="square" lIns="0" tIns="0" rIns="0" bIns="0" rtlCol="0" anchor="t"/>
          <a:lstStyle/>
          <a:p>
            <a:pPr indent="0" marL="0">
              <a:lnSpc>
                <a:spcPct val="115000"/>
              </a:lnSpc>
              <a:buNone/>
            </a:pPr>
            <a:r>
              <a:rPr lang="en-US" sz="1250" dirty="0">
                <a:solidFill>
                  <a:srgbClr val="2B2B33"/>
                </a:solidFill>
                <a:latin typeface="Calibri" pitchFamily="34" charset="0"/>
                <a:ea typeface="Calibri" pitchFamily="34" charset="-122"/>
                <a:cs typeface="Calibri" pitchFamily="34" charset="-120"/>
              </a:rPr>
              <a:t>Subscription Status</a:t>
            </a:r>
            <a:endParaRPr lang="en-US" sz="1250" dirty="0"/>
          </a:p>
        </p:txBody>
      </p:sp>
      <p:sp>
        <p:nvSpPr>
          <p:cNvPr id="17" name="Shape 15"/>
          <p:cNvSpPr/>
          <p:nvPr/>
        </p:nvSpPr>
        <p:spPr>
          <a:xfrm>
            <a:off x="4343400" y="2148840"/>
            <a:ext cx="3520440" cy="3977640"/>
          </a:xfrm>
          <a:prstGeom prst="roundRect">
            <a:avLst>
              <a:gd name="adj" fmla="val 3117"/>
            </a:avLst>
          </a:prstGeom>
          <a:solidFill>
            <a:srgbClr val="F7F7FA"/>
          </a:solidFill>
          <a:ln/>
          <a:effectLst>
            <a:outerShdw sx="100000" sy="100000" kx="0" ky="0" algn="bl" rotWithShape="0" blurRad="76200" dist="25400" dir="5400000">
              <a:srgbClr val="000000">
                <a:alpha val="10000"/>
              </a:srgbClr>
            </a:outerShdw>
          </a:effectLst>
        </p:spPr>
      </p:sp>
      <p:sp>
        <p:nvSpPr>
          <p:cNvPr id="18" name="Shape 16"/>
          <p:cNvSpPr/>
          <p:nvPr/>
        </p:nvSpPr>
        <p:spPr>
          <a:xfrm>
            <a:off x="4617720" y="2468880"/>
            <a:ext cx="640080" cy="640080"/>
          </a:xfrm>
          <a:prstGeom prst="ellipse">
            <a:avLst/>
          </a:prstGeom>
          <a:solidFill>
            <a:srgbClr val="F96167"/>
          </a:solidFill>
          <a:ln/>
        </p:spPr>
      </p:sp>
      <p:sp>
        <p:nvSpPr>
          <p:cNvPr id="19" name="Text 17"/>
          <p:cNvSpPr/>
          <p:nvPr/>
        </p:nvSpPr>
        <p:spPr>
          <a:xfrm>
            <a:off x="4617720" y="2468880"/>
            <a:ext cx="640080" cy="640080"/>
          </a:xfrm>
          <a:prstGeom prst="rect">
            <a:avLst/>
          </a:prstGeom>
          <a:noFill/>
          <a:ln/>
        </p:spPr>
        <p:txBody>
          <a:bodyPr wrap="square" lIns="0" tIns="0" rIns="0" bIns="0" rtlCol="0" anchor="ctr"/>
          <a:lstStyle/>
          <a:p>
            <a:pPr algn="ctr" indent="0" marL="0">
              <a:buNone/>
            </a:pPr>
            <a:r>
              <a:rPr lang="en-US" sz="2400" dirty="0">
                <a:solidFill>
                  <a:srgbClr val="000000"/>
                </a:solidFill>
              </a:rPr>
              <a:t>🛍</a:t>
            </a:r>
            <a:endParaRPr lang="en-US" sz="2400" dirty="0"/>
          </a:p>
        </p:txBody>
      </p:sp>
      <p:sp>
        <p:nvSpPr>
          <p:cNvPr id="20" name="Text 18"/>
          <p:cNvSpPr/>
          <p:nvPr/>
        </p:nvSpPr>
        <p:spPr>
          <a:xfrm>
            <a:off x="4617720" y="3246120"/>
            <a:ext cx="2971800" cy="548640"/>
          </a:xfrm>
          <a:prstGeom prst="rect">
            <a:avLst/>
          </a:prstGeom>
          <a:noFill/>
          <a:ln/>
        </p:spPr>
        <p:txBody>
          <a:bodyPr wrap="square" lIns="0" tIns="0" rIns="0" bIns="0" rtlCol="0" anchor="ctr"/>
          <a:lstStyle/>
          <a:p>
            <a:pPr indent="0" marL="0">
              <a:buNone/>
            </a:pPr>
            <a:r>
              <a:rPr lang="en-US" sz="1600" b="1" dirty="0">
                <a:solidFill>
                  <a:srgbClr val="2F3C7E"/>
                </a:solidFill>
                <a:latin typeface="Cambria" pitchFamily="34" charset="0"/>
                <a:ea typeface="Cambria" pitchFamily="34" charset="-122"/>
                <a:cs typeface="Cambria" pitchFamily="34" charset="-120"/>
              </a:rPr>
              <a:t>Purchase Details</a:t>
            </a:r>
            <a:endParaRPr lang="en-US" sz="1600" dirty="0"/>
          </a:p>
        </p:txBody>
      </p:sp>
      <p:sp>
        <p:nvSpPr>
          <p:cNvPr id="21" name="Shape 19"/>
          <p:cNvSpPr/>
          <p:nvPr/>
        </p:nvSpPr>
        <p:spPr>
          <a:xfrm>
            <a:off x="4636008" y="3959352"/>
            <a:ext cx="82296" cy="82296"/>
          </a:xfrm>
          <a:prstGeom prst="ellipse">
            <a:avLst/>
          </a:prstGeom>
          <a:solidFill>
            <a:srgbClr val="F96167"/>
          </a:solidFill>
          <a:ln/>
        </p:spPr>
      </p:sp>
      <p:sp>
        <p:nvSpPr>
          <p:cNvPr id="22" name="Text 20"/>
          <p:cNvSpPr/>
          <p:nvPr/>
        </p:nvSpPr>
        <p:spPr>
          <a:xfrm>
            <a:off x="4846320" y="3886200"/>
            <a:ext cx="2743200" cy="502920"/>
          </a:xfrm>
          <a:prstGeom prst="rect">
            <a:avLst/>
          </a:prstGeom>
          <a:noFill/>
          <a:ln/>
        </p:spPr>
        <p:txBody>
          <a:bodyPr wrap="square" lIns="0" tIns="0" rIns="0" bIns="0" rtlCol="0" anchor="t"/>
          <a:lstStyle/>
          <a:p>
            <a:pPr indent="0" marL="0">
              <a:lnSpc>
                <a:spcPct val="115000"/>
              </a:lnSpc>
              <a:buNone/>
            </a:pPr>
            <a:r>
              <a:rPr lang="en-US" sz="1250" dirty="0">
                <a:solidFill>
                  <a:srgbClr val="2B2B33"/>
                </a:solidFill>
                <a:latin typeface="Calibri" pitchFamily="34" charset="0"/>
                <a:ea typeface="Calibri" pitchFamily="34" charset="-122"/>
                <a:cs typeface="Calibri" pitchFamily="34" charset="-120"/>
              </a:rPr>
              <a:t>Item Purchased</a:t>
            </a:r>
            <a:endParaRPr lang="en-US" sz="1250" dirty="0"/>
          </a:p>
        </p:txBody>
      </p:sp>
      <p:sp>
        <p:nvSpPr>
          <p:cNvPr id="23" name="Shape 21"/>
          <p:cNvSpPr/>
          <p:nvPr/>
        </p:nvSpPr>
        <p:spPr>
          <a:xfrm>
            <a:off x="4636008" y="4526280"/>
            <a:ext cx="82296" cy="82296"/>
          </a:xfrm>
          <a:prstGeom prst="ellipse">
            <a:avLst/>
          </a:prstGeom>
          <a:solidFill>
            <a:srgbClr val="F96167"/>
          </a:solidFill>
          <a:ln/>
        </p:spPr>
      </p:sp>
      <p:sp>
        <p:nvSpPr>
          <p:cNvPr id="24" name="Text 22"/>
          <p:cNvSpPr/>
          <p:nvPr/>
        </p:nvSpPr>
        <p:spPr>
          <a:xfrm>
            <a:off x="4846320" y="4453128"/>
            <a:ext cx="2743200" cy="502920"/>
          </a:xfrm>
          <a:prstGeom prst="rect">
            <a:avLst/>
          </a:prstGeom>
          <a:noFill/>
          <a:ln/>
        </p:spPr>
        <p:txBody>
          <a:bodyPr wrap="square" lIns="0" tIns="0" rIns="0" bIns="0" rtlCol="0" anchor="t"/>
          <a:lstStyle/>
          <a:p>
            <a:pPr indent="0" marL="0">
              <a:lnSpc>
                <a:spcPct val="115000"/>
              </a:lnSpc>
              <a:buNone/>
            </a:pPr>
            <a:r>
              <a:rPr lang="en-US" sz="1250" dirty="0">
                <a:solidFill>
                  <a:srgbClr val="2B2B33"/>
                </a:solidFill>
                <a:latin typeface="Calibri" pitchFamily="34" charset="0"/>
                <a:ea typeface="Calibri" pitchFamily="34" charset="-122"/>
                <a:cs typeface="Calibri" pitchFamily="34" charset="-120"/>
              </a:rPr>
              <a:t>Category</a:t>
            </a:r>
            <a:endParaRPr lang="en-US" sz="1250" dirty="0"/>
          </a:p>
        </p:txBody>
      </p:sp>
      <p:sp>
        <p:nvSpPr>
          <p:cNvPr id="25" name="Shape 23"/>
          <p:cNvSpPr/>
          <p:nvPr/>
        </p:nvSpPr>
        <p:spPr>
          <a:xfrm>
            <a:off x="4636008" y="5093208"/>
            <a:ext cx="82296" cy="82296"/>
          </a:xfrm>
          <a:prstGeom prst="ellipse">
            <a:avLst/>
          </a:prstGeom>
          <a:solidFill>
            <a:srgbClr val="F96167"/>
          </a:solidFill>
          <a:ln/>
        </p:spPr>
      </p:sp>
      <p:sp>
        <p:nvSpPr>
          <p:cNvPr id="26" name="Text 24"/>
          <p:cNvSpPr/>
          <p:nvPr/>
        </p:nvSpPr>
        <p:spPr>
          <a:xfrm>
            <a:off x="4846320" y="5020056"/>
            <a:ext cx="2743200" cy="502920"/>
          </a:xfrm>
          <a:prstGeom prst="rect">
            <a:avLst/>
          </a:prstGeom>
          <a:noFill/>
          <a:ln/>
        </p:spPr>
        <p:txBody>
          <a:bodyPr wrap="square" lIns="0" tIns="0" rIns="0" bIns="0" rtlCol="0" anchor="t"/>
          <a:lstStyle/>
          <a:p>
            <a:pPr indent="0" marL="0">
              <a:lnSpc>
                <a:spcPct val="115000"/>
              </a:lnSpc>
              <a:buNone/>
            </a:pPr>
            <a:r>
              <a:rPr lang="en-US" sz="1250" dirty="0">
                <a:solidFill>
                  <a:srgbClr val="2B2B33"/>
                </a:solidFill>
                <a:latin typeface="Calibri" pitchFamily="34" charset="0"/>
                <a:ea typeface="Calibri" pitchFamily="34" charset="-122"/>
                <a:cs typeface="Calibri" pitchFamily="34" charset="-120"/>
              </a:rPr>
              <a:t>Purchase Amount</a:t>
            </a:r>
            <a:endParaRPr lang="en-US" sz="1250" dirty="0"/>
          </a:p>
        </p:txBody>
      </p:sp>
      <p:sp>
        <p:nvSpPr>
          <p:cNvPr id="27" name="Shape 25"/>
          <p:cNvSpPr/>
          <p:nvPr/>
        </p:nvSpPr>
        <p:spPr>
          <a:xfrm>
            <a:off x="4636008" y="5660136"/>
            <a:ext cx="82296" cy="82296"/>
          </a:xfrm>
          <a:prstGeom prst="ellipse">
            <a:avLst/>
          </a:prstGeom>
          <a:solidFill>
            <a:srgbClr val="F96167"/>
          </a:solidFill>
          <a:ln/>
        </p:spPr>
      </p:sp>
      <p:sp>
        <p:nvSpPr>
          <p:cNvPr id="28" name="Text 26"/>
          <p:cNvSpPr/>
          <p:nvPr/>
        </p:nvSpPr>
        <p:spPr>
          <a:xfrm>
            <a:off x="4846320" y="5586984"/>
            <a:ext cx="2743200" cy="502920"/>
          </a:xfrm>
          <a:prstGeom prst="rect">
            <a:avLst/>
          </a:prstGeom>
          <a:noFill/>
          <a:ln/>
        </p:spPr>
        <p:txBody>
          <a:bodyPr wrap="square" lIns="0" tIns="0" rIns="0" bIns="0" rtlCol="0" anchor="t"/>
          <a:lstStyle/>
          <a:p>
            <a:pPr indent="0" marL="0">
              <a:lnSpc>
                <a:spcPct val="115000"/>
              </a:lnSpc>
              <a:buNone/>
            </a:pPr>
            <a:r>
              <a:rPr lang="en-US" sz="1250" dirty="0">
                <a:solidFill>
                  <a:srgbClr val="2B2B33"/>
                </a:solidFill>
                <a:latin typeface="Calibri" pitchFamily="34" charset="0"/>
                <a:ea typeface="Calibri" pitchFamily="34" charset="-122"/>
                <a:cs typeface="Calibri" pitchFamily="34" charset="-120"/>
              </a:rPr>
              <a:t>Season, Size, Color</a:t>
            </a:r>
            <a:endParaRPr lang="en-US" sz="1250" dirty="0"/>
          </a:p>
        </p:txBody>
      </p:sp>
      <p:sp>
        <p:nvSpPr>
          <p:cNvPr id="29" name="Shape 27"/>
          <p:cNvSpPr/>
          <p:nvPr/>
        </p:nvSpPr>
        <p:spPr>
          <a:xfrm>
            <a:off x="8138160" y="2148840"/>
            <a:ext cx="3520440" cy="3977640"/>
          </a:xfrm>
          <a:prstGeom prst="roundRect">
            <a:avLst>
              <a:gd name="adj" fmla="val 3117"/>
            </a:avLst>
          </a:prstGeom>
          <a:solidFill>
            <a:srgbClr val="F7F7FA"/>
          </a:solidFill>
          <a:ln/>
          <a:effectLst>
            <a:outerShdw sx="100000" sy="100000" kx="0" ky="0" algn="bl" rotWithShape="0" blurRad="76200" dist="25400" dir="5400000">
              <a:srgbClr val="000000">
                <a:alpha val="10000"/>
              </a:srgbClr>
            </a:outerShdw>
          </a:effectLst>
        </p:spPr>
      </p:sp>
      <p:sp>
        <p:nvSpPr>
          <p:cNvPr id="30" name="Shape 28"/>
          <p:cNvSpPr/>
          <p:nvPr/>
        </p:nvSpPr>
        <p:spPr>
          <a:xfrm>
            <a:off x="8412480" y="2468880"/>
            <a:ext cx="640080" cy="640080"/>
          </a:xfrm>
          <a:prstGeom prst="ellipse">
            <a:avLst/>
          </a:prstGeom>
          <a:solidFill>
            <a:srgbClr val="2F3C7E"/>
          </a:solidFill>
          <a:ln/>
        </p:spPr>
      </p:sp>
      <p:sp>
        <p:nvSpPr>
          <p:cNvPr id="31" name="Text 29"/>
          <p:cNvSpPr/>
          <p:nvPr/>
        </p:nvSpPr>
        <p:spPr>
          <a:xfrm>
            <a:off x="8412480" y="2468880"/>
            <a:ext cx="640080" cy="640080"/>
          </a:xfrm>
          <a:prstGeom prst="rect">
            <a:avLst/>
          </a:prstGeom>
          <a:noFill/>
          <a:ln/>
        </p:spPr>
        <p:txBody>
          <a:bodyPr wrap="square" lIns="0" tIns="0" rIns="0" bIns="0" rtlCol="0" anchor="ctr"/>
          <a:lstStyle/>
          <a:p>
            <a:pPr algn="ctr" indent="0" marL="0">
              <a:buNone/>
            </a:pPr>
            <a:r>
              <a:rPr lang="en-US" sz="2400" dirty="0">
                <a:solidFill>
                  <a:srgbClr val="000000"/>
                </a:solidFill>
              </a:rPr>
              <a:t>📊</a:t>
            </a:r>
            <a:endParaRPr lang="en-US" sz="2400" dirty="0"/>
          </a:p>
        </p:txBody>
      </p:sp>
      <p:sp>
        <p:nvSpPr>
          <p:cNvPr id="32" name="Text 30"/>
          <p:cNvSpPr/>
          <p:nvPr/>
        </p:nvSpPr>
        <p:spPr>
          <a:xfrm>
            <a:off x="8412480" y="3246120"/>
            <a:ext cx="2971800" cy="548640"/>
          </a:xfrm>
          <a:prstGeom prst="rect">
            <a:avLst/>
          </a:prstGeom>
          <a:noFill/>
          <a:ln/>
        </p:spPr>
        <p:txBody>
          <a:bodyPr wrap="square" lIns="0" tIns="0" rIns="0" bIns="0" rtlCol="0" anchor="ctr"/>
          <a:lstStyle/>
          <a:p>
            <a:pPr indent="0" marL="0">
              <a:buNone/>
            </a:pPr>
            <a:r>
              <a:rPr lang="en-US" sz="1600" b="1" dirty="0">
                <a:solidFill>
                  <a:srgbClr val="2F3C7E"/>
                </a:solidFill>
                <a:latin typeface="Cambria" pitchFamily="34" charset="0"/>
                <a:ea typeface="Cambria" pitchFamily="34" charset="-122"/>
                <a:cs typeface="Cambria" pitchFamily="34" charset="-120"/>
              </a:rPr>
              <a:t>Shopping Behavior</a:t>
            </a:r>
            <a:endParaRPr lang="en-US" sz="1600" dirty="0"/>
          </a:p>
        </p:txBody>
      </p:sp>
      <p:sp>
        <p:nvSpPr>
          <p:cNvPr id="33" name="Shape 31"/>
          <p:cNvSpPr/>
          <p:nvPr/>
        </p:nvSpPr>
        <p:spPr>
          <a:xfrm>
            <a:off x="8430768" y="3959352"/>
            <a:ext cx="82296" cy="82296"/>
          </a:xfrm>
          <a:prstGeom prst="ellipse">
            <a:avLst/>
          </a:prstGeom>
          <a:solidFill>
            <a:srgbClr val="F96167"/>
          </a:solidFill>
          <a:ln/>
        </p:spPr>
      </p:sp>
      <p:sp>
        <p:nvSpPr>
          <p:cNvPr id="34" name="Text 32"/>
          <p:cNvSpPr/>
          <p:nvPr/>
        </p:nvSpPr>
        <p:spPr>
          <a:xfrm>
            <a:off x="8641080" y="3886200"/>
            <a:ext cx="2743200" cy="502920"/>
          </a:xfrm>
          <a:prstGeom prst="rect">
            <a:avLst/>
          </a:prstGeom>
          <a:noFill/>
          <a:ln/>
        </p:spPr>
        <p:txBody>
          <a:bodyPr wrap="square" lIns="0" tIns="0" rIns="0" bIns="0" rtlCol="0" anchor="t"/>
          <a:lstStyle/>
          <a:p>
            <a:pPr indent="0" marL="0">
              <a:lnSpc>
                <a:spcPct val="115000"/>
              </a:lnSpc>
              <a:buNone/>
            </a:pPr>
            <a:r>
              <a:rPr lang="en-US" sz="1250" dirty="0">
                <a:solidFill>
                  <a:srgbClr val="2B2B33"/>
                </a:solidFill>
                <a:latin typeface="Calibri" pitchFamily="34" charset="0"/>
                <a:ea typeface="Calibri" pitchFamily="34" charset="-122"/>
                <a:cs typeface="Calibri" pitchFamily="34" charset="-120"/>
              </a:rPr>
              <a:t>Discount / Promo Used</a:t>
            </a:r>
            <a:endParaRPr lang="en-US" sz="1250" dirty="0"/>
          </a:p>
        </p:txBody>
      </p:sp>
      <p:sp>
        <p:nvSpPr>
          <p:cNvPr id="35" name="Shape 33"/>
          <p:cNvSpPr/>
          <p:nvPr/>
        </p:nvSpPr>
        <p:spPr>
          <a:xfrm>
            <a:off x="8430768" y="4526280"/>
            <a:ext cx="82296" cy="82296"/>
          </a:xfrm>
          <a:prstGeom prst="ellipse">
            <a:avLst/>
          </a:prstGeom>
          <a:solidFill>
            <a:srgbClr val="F96167"/>
          </a:solidFill>
          <a:ln/>
        </p:spPr>
      </p:sp>
      <p:sp>
        <p:nvSpPr>
          <p:cNvPr id="36" name="Text 34"/>
          <p:cNvSpPr/>
          <p:nvPr/>
        </p:nvSpPr>
        <p:spPr>
          <a:xfrm>
            <a:off x="8641080" y="4453128"/>
            <a:ext cx="2743200" cy="502920"/>
          </a:xfrm>
          <a:prstGeom prst="rect">
            <a:avLst/>
          </a:prstGeom>
          <a:noFill/>
          <a:ln/>
        </p:spPr>
        <p:txBody>
          <a:bodyPr wrap="square" lIns="0" tIns="0" rIns="0" bIns="0" rtlCol="0" anchor="t"/>
          <a:lstStyle/>
          <a:p>
            <a:pPr indent="0" marL="0">
              <a:lnSpc>
                <a:spcPct val="115000"/>
              </a:lnSpc>
              <a:buNone/>
            </a:pPr>
            <a:r>
              <a:rPr lang="en-US" sz="1250" dirty="0">
                <a:solidFill>
                  <a:srgbClr val="2B2B33"/>
                </a:solidFill>
                <a:latin typeface="Calibri" pitchFamily="34" charset="0"/>
                <a:ea typeface="Calibri" pitchFamily="34" charset="-122"/>
                <a:cs typeface="Calibri" pitchFamily="34" charset="-120"/>
              </a:rPr>
              <a:t>Previous Purchases</a:t>
            </a:r>
            <a:endParaRPr lang="en-US" sz="1250" dirty="0"/>
          </a:p>
        </p:txBody>
      </p:sp>
      <p:sp>
        <p:nvSpPr>
          <p:cNvPr id="37" name="Shape 35"/>
          <p:cNvSpPr/>
          <p:nvPr/>
        </p:nvSpPr>
        <p:spPr>
          <a:xfrm>
            <a:off x="8430768" y="5093208"/>
            <a:ext cx="82296" cy="82296"/>
          </a:xfrm>
          <a:prstGeom prst="ellipse">
            <a:avLst/>
          </a:prstGeom>
          <a:solidFill>
            <a:srgbClr val="F96167"/>
          </a:solidFill>
          <a:ln/>
        </p:spPr>
      </p:sp>
      <p:sp>
        <p:nvSpPr>
          <p:cNvPr id="38" name="Text 36"/>
          <p:cNvSpPr/>
          <p:nvPr/>
        </p:nvSpPr>
        <p:spPr>
          <a:xfrm>
            <a:off x="8641080" y="5020056"/>
            <a:ext cx="2743200" cy="502920"/>
          </a:xfrm>
          <a:prstGeom prst="rect">
            <a:avLst/>
          </a:prstGeom>
          <a:noFill/>
          <a:ln/>
        </p:spPr>
        <p:txBody>
          <a:bodyPr wrap="square" lIns="0" tIns="0" rIns="0" bIns="0" rtlCol="0" anchor="t"/>
          <a:lstStyle/>
          <a:p>
            <a:pPr indent="0" marL="0">
              <a:lnSpc>
                <a:spcPct val="115000"/>
              </a:lnSpc>
              <a:buNone/>
            </a:pPr>
            <a:r>
              <a:rPr lang="en-US" sz="1250" dirty="0">
                <a:solidFill>
                  <a:srgbClr val="2B2B33"/>
                </a:solidFill>
                <a:latin typeface="Calibri" pitchFamily="34" charset="0"/>
                <a:ea typeface="Calibri" pitchFamily="34" charset="-122"/>
                <a:cs typeface="Calibri" pitchFamily="34" charset="-120"/>
              </a:rPr>
              <a:t>Purchase Frequency</a:t>
            </a:r>
            <a:endParaRPr lang="en-US" sz="1250" dirty="0"/>
          </a:p>
        </p:txBody>
      </p:sp>
      <p:sp>
        <p:nvSpPr>
          <p:cNvPr id="39" name="Shape 37"/>
          <p:cNvSpPr/>
          <p:nvPr/>
        </p:nvSpPr>
        <p:spPr>
          <a:xfrm>
            <a:off x="8430768" y="5660136"/>
            <a:ext cx="82296" cy="82296"/>
          </a:xfrm>
          <a:prstGeom prst="ellipse">
            <a:avLst/>
          </a:prstGeom>
          <a:solidFill>
            <a:srgbClr val="F96167"/>
          </a:solidFill>
          <a:ln/>
        </p:spPr>
      </p:sp>
      <p:sp>
        <p:nvSpPr>
          <p:cNvPr id="40" name="Text 38"/>
          <p:cNvSpPr/>
          <p:nvPr/>
        </p:nvSpPr>
        <p:spPr>
          <a:xfrm>
            <a:off x="8641080" y="5586984"/>
            <a:ext cx="2743200" cy="502920"/>
          </a:xfrm>
          <a:prstGeom prst="rect">
            <a:avLst/>
          </a:prstGeom>
          <a:noFill/>
          <a:ln/>
        </p:spPr>
        <p:txBody>
          <a:bodyPr wrap="square" lIns="0" tIns="0" rIns="0" bIns="0" rtlCol="0" anchor="t"/>
          <a:lstStyle/>
          <a:p>
            <a:pPr indent="0" marL="0">
              <a:lnSpc>
                <a:spcPct val="115000"/>
              </a:lnSpc>
              <a:buNone/>
            </a:pPr>
            <a:r>
              <a:rPr lang="en-US" sz="1250" dirty="0">
                <a:solidFill>
                  <a:srgbClr val="2B2B33"/>
                </a:solidFill>
                <a:latin typeface="Calibri" pitchFamily="34" charset="0"/>
                <a:ea typeface="Calibri" pitchFamily="34" charset="-122"/>
                <a:cs typeface="Calibri" pitchFamily="34" charset="-120"/>
              </a:rPr>
              <a:t>Review Rating, Shipping Type</a:t>
            </a:r>
            <a:endParaRPr lang="en-US" sz="1250" dirty="0"/>
          </a:p>
        </p:txBody>
      </p:sp>
      <p:sp>
        <p:nvSpPr>
          <p:cNvPr id="41" name="Text 39"/>
          <p:cNvSpPr/>
          <p:nvPr/>
        </p:nvSpPr>
        <p:spPr>
          <a:xfrm>
            <a:off x="457200" y="6519672"/>
            <a:ext cx="7315200" cy="274320"/>
          </a:xfrm>
          <a:prstGeom prst="rect">
            <a:avLst/>
          </a:prstGeom>
          <a:noFill/>
          <a:ln/>
        </p:spPr>
        <p:txBody>
          <a:bodyPr wrap="square" lIns="0" tIns="0" rIns="0" bIns="0" rtlCol="0" anchor="ctr"/>
          <a:lstStyle/>
          <a:p>
            <a:pPr indent="0" marL="0">
              <a:buNone/>
            </a:pPr>
            <a:r>
              <a:rPr lang="en-US" sz="900" i="1" dirty="0">
                <a:solidFill>
                  <a:srgbClr val="6B6E85"/>
                </a:solidFill>
                <a:latin typeface="Calibri" pitchFamily="34" charset="0"/>
                <a:ea typeface="Calibri" pitchFamily="34" charset="-122"/>
                <a:cs typeface="Calibri" pitchFamily="34" charset="-120"/>
              </a:rPr>
              <a:t>Customer Shopping Behavior Analysis</a:t>
            </a:r>
            <a:endParaRPr lang="en-US" sz="900" dirty="0"/>
          </a:p>
        </p:txBody>
      </p:sp>
      <p:sp>
        <p:nvSpPr>
          <p:cNvPr id="42" name="Text 40"/>
          <p:cNvSpPr/>
          <p:nvPr/>
        </p:nvSpPr>
        <p:spPr>
          <a:xfrm>
            <a:off x="11274552" y="6519672"/>
            <a:ext cx="457200" cy="274320"/>
          </a:xfrm>
          <a:prstGeom prst="rect">
            <a:avLst/>
          </a:prstGeom>
          <a:noFill/>
          <a:ln/>
        </p:spPr>
        <p:txBody>
          <a:bodyPr wrap="square" lIns="0" tIns="0" rIns="0" bIns="0" rtlCol="0" anchor="ctr"/>
          <a:lstStyle/>
          <a:p>
            <a:pPr algn="r" indent="0" marL="0">
              <a:buNone/>
            </a:pPr>
            <a:r>
              <a:rPr lang="en-US" sz="900" dirty="0">
                <a:solidFill>
                  <a:srgbClr val="6B6E85"/>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7315200" cy="640080"/>
          </a:xfrm>
          <a:prstGeom prst="rect">
            <a:avLst/>
          </a:prstGeom>
          <a:noFill/>
          <a:ln/>
        </p:spPr>
        <p:txBody>
          <a:bodyPr wrap="square" lIns="0" tIns="0" rIns="0" bIns="0" rtlCol="0" anchor="ctr"/>
          <a:lstStyle/>
          <a:p>
            <a:pPr algn="l" indent="0" marL="0">
              <a:buNone/>
            </a:pPr>
            <a:r>
              <a:rPr lang="en-US" sz="3000" b="1" dirty="0">
                <a:solidFill>
                  <a:srgbClr val="2F3C7E"/>
                </a:solidFill>
                <a:latin typeface="Cambria" pitchFamily="34" charset="0"/>
                <a:ea typeface="Cambria" pitchFamily="34" charset="-122"/>
                <a:cs typeface="Cambria" pitchFamily="34" charset="-120"/>
              </a:rPr>
              <a:t>Methodology</a:t>
            </a:r>
            <a:endParaRPr lang="en-US" sz="3000" dirty="0"/>
          </a:p>
        </p:txBody>
      </p:sp>
      <p:sp>
        <p:nvSpPr>
          <p:cNvPr id="3" name="Shape 1"/>
          <p:cNvSpPr/>
          <p:nvPr/>
        </p:nvSpPr>
        <p:spPr>
          <a:xfrm>
            <a:off x="548640" y="1143000"/>
            <a:ext cx="1280160" cy="54864"/>
          </a:xfrm>
          <a:prstGeom prst="rect">
            <a:avLst/>
          </a:prstGeom>
          <a:solidFill>
            <a:srgbClr val="F96167"/>
          </a:solidFill>
          <a:ln/>
        </p:spPr>
      </p:sp>
      <p:sp>
        <p:nvSpPr>
          <p:cNvPr id="4" name="Text 2"/>
          <p:cNvSpPr/>
          <p:nvPr/>
        </p:nvSpPr>
        <p:spPr>
          <a:xfrm>
            <a:off x="548640" y="1325880"/>
            <a:ext cx="10515600" cy="457200"/>
          </a:xfrm>
          <a:prstGeom prst="rect">
            <a:avLst/>
          </a:prstGeom>
          <a:noFill/>
          <a:ln/>
        </p:spPr>
        <p:txBody>
          <a:bodyPr wrap="square" lIns="0" tIns="0" rIns="0" bIns="0" rtlCol="0" anchor="ctr"/>
          <a:lstStyle/>
          <a:p>
            <a:pPr indent="0" marL="0">
              <a:buNone/>
            </a:pPr>
            <a:r>
              <a:rPr lang="en-US" sz="1400" dirty="0">
                <a:solidFill>
                  <a:srgbClr val="6B6E85"/>
                </a:solidFill>
                <a:latin typeface="Calibri" pitchFamily="34" charset="0"/>
                <a:ea typeface="Calibri" pitchFamily="34" charset="-122"/>
                <a:cs typeface="Calibri" pitchFamily="34" charset="-120"/>
              </a:rPr>
              <a:t>A three-stage pipeline: clean and engineer features in Python, answer business questions in SQL, then visualize results in Power BI.</a:t>
            </a:r>
            <a:endParaRPr lang="en-US" sz="1400" dirty="0"/>
          </a:p>
        </p:txBody>
      </p:sp>
      <p:sp>
        <p:nvSpPr>
          <p:cNvPr id="5" name="Shape 3"/>
          <p:cNvSpPr/>
          <p:nvPr/>
        </p:nvSpPr>
        <p:spPr>
          <a:xfrm>
            <a:off x="548640" y="2148840"/>
            <a:ext cx="3520440" cy="4023360"/>
          </a:xfrm>
          <a:prstGeom prst="roundRect">
            <a:avLst>
              <a:gd name="adj" fmla="val 3117"/>
            </a:avLst>
          </a:prstGeom>
          <a:solidFill>
            <a:srgbClr val="F7F7FA"/>
          </a:solidFill>
          <a:ln/>
          <a:effectLst>
            <a:outerShdw sx="100000" sy="100000" kx="0" ky="0" algn="bl" rotWithShape="0" blurRad="76200" dist="25400" dir="5400000">
              <a:srgbClr val="000000">
                <a:alpha val="10000"/>
              </a:srgbClr>
            </a:outerShdw>
          </a:effectLst>
        </p:spPr>
      </p:sp>
      <p:sp>
        <p:nvSpPr>
          <p:cNvPr id="6" name="Text 4"/>
          <p:cNvSpPr/>
          <p:nvPr/>
        </p:nvSpPr>
        <p:spPr>
          <a:xfrm>
            <a:off x="777240" y="2331720"/>
            <a:ext cx="1188720" cy="640080"/>
          </a:xfrm>
          <a:prstGeom prst="rect">
            <a:avLst/>
          </a:prstGeom>
          <a:noFill/>
          <a:ln/>
        </p:spPr>
        <p:txBody>
          <a:bodyPr wrap="square" lIns="0" tIns="0" rIns="0" bIns="0" rtlCol="0" anchor="ctr"/>
          <a:lstStyle/>
          <a:p>
            <a:pPr indent="0" marL="0">
              <a:buNone/>
            </a:pPr>
            <a:r>
              <a:rPr lang="en-US" sz="2800" b="1" dirty="0">
                <a:solidFill>
                  <a:srgbClr val="E3E6F2"/>
                </a:solidFill>
                <a:latin typeface="Cambria" pitchFamily="34" charset="0"/>
                <a:ea typeface="Cambria" pitchFamily="34" charset="-122"/>
                <a:cs typeface="Cambria" pitchFamily="34" charset="-120"/>
              </a:rPr>
              <a:t>01</a:t>
            </a:r>
            <a:endParaRPr lang="en-US" sz="2800" dirty="0"/>
          </a:p>
        </p:txBody>
      </p:sp>
      <p:sp>
        <p:nvSpPr>
          <p:cNvPr id="7" name="Text 5"/>
          <p:cNvSpPr/>
          <p:nvPr/>
        </p:nvSpPr>
        <p:spPr>
          <a:xfrm>
            <a:off x="777240" y="2834640"/>
            <a:ext cx="3063240" cy="457200"/>
          </a:xfrm>
          <a:prstGeom prst="rect">
            <a:avLst/>
          </a:prstGeom>
          <a:noFill/>
          <a:ln/>
        </p:spPr>
        <p:txBody>
          <a:bodyPr wrap="square" lIns="0" tIns="0" rIns="0" bIns="0" rtlCol="0" anchor="ctr"/>
          <a:lstStyle/>
          <a:p>
            <a:pPr indent="0" marL="0">
              <a:buNone/>
            </a:pPr>
            <a:r>
              <a:rPr lang="en-US" sz="1600" b="1" dirty="0">
                <a:solidFill>
                  <a:srgbClr val="2F3C7E"/>
                </a:solidFill>
                <a:latin typeface="Cambria" pitchFamily="34" charset="0"/>
                <a:ea typeface="Cambria" pitchFamily="34" charset="-122"/>
                <a:cs typeface="Cambria" pitchFamily="34" charset="-120"/>
              </a:rPr>
              <a:t>Python (Pandas)</a:t>
            </a:r>
            <a:endParaRPr lang="en-US" sz="1600" dirty="0"/>
          </a:p>
        </p:txBody>
      </p:sp>
      <p:sp>
        <p:nvSpPr>
          <p:cNvPr id="8" name="Shape 6"/>
          <p:cNvSpPr/>
          <p:nvPr/>
        </p:nvSpPr>
        <p:spPr>
          <a:xfrm>
            <a:off x="795528" y="3493008"/>
            <a:ext cx="73152" cy="73152"/>
          </a:xfrm>
          <a:prstGeom prst="ellipse">
            <a:avLst/>
          </a:prstGeom>
          <a:solidFill>
            <a:srgbClr val="F96167"/>
          </a:solidFill>
          <a:ln/>
        </p:spPr>
      </p:sp>
      <p:sp>
        <p:nvSpPr>
          <p:cNvPr id="9" name="Text 7"/>
          <p:cNvSpPr/>
          <p:nvPr/>
        </p:nvSpPr>
        <p:spPr>
          <a:xfrm>
            <a:off x="1005840" y="3429000"/>
            <a:ext cx="2834640" cy="457200"/>
          </a:xfrm>
          <a:prstGeom prst="rect">
            <a:avLst/>
          </a:prstGeom>
          <a:noFill/>
          <a:ln/>
        </p:spPr>
        <p:txBody>
          <a:bodyPr wrap="square" lIns="0" tIns="0" rIns="0" bIns="0" rtlCol="0" anchor="t"/>
          <a:lstStyle/>
          <a:p>
            <a:pPr indent="0" marL="0">
              <a:lnSpc>
                <a:spcPct val="110000"/>
              </a:lnSpc>
              <a:buNone/>
            </a:pPr>
            <a:r>
              <a:rPr lang="en-US" sz="1100" dirty="0">
                <a:solidFill>
                  <a:srgbClr val="2B2B33"/>
                </a:solidFill>
                <a:latin typeface="Calibri" pitchFamily="34" charset="0"/>
                <a:ea typeface="Calibri" pitchFamily="34" charset="-122"/>
                <a:cs typeface="Calibri" pitchFamily="34" charset="-120"/>
              </a:rPr>
              <a:t>Loaded data; checked structure with df.info()/describe()</a:t>
            </a:r>
            <a:endParaRPr lang="en-US" sz="1100" dirty="0"/>
          </a:p>
        </p:txBody>
      </p:sp>
      <p:sp>
        <p:nvSpPr>
          <p:cNvPr id="10" name="Shape 8"/>
          <p:cNvSpPr/>
          <p:nvPr/>
        </p:nvSpPr>
        <p:spPr>
          <a:xfrm>
            <a:off x="795528" y="3950208"/>
            <a:ext cx="73152" cy="73152"/>
          </a:xfrm>
          <a:prstGeom prst="ellipse">
            <a:avLst/>
          </a:prstGeom>
          <a:solidFill>
            <a:srgbClr val="F96167"/>
          </a:solidFill>
          <a:ln/>
        </p:spPr>
      </p:sp>
      <p:sp>
        <p:nvSpPr>
          <p:cNvPr id="11" name="Text 9"/>
          <p:cNvSpPr/>
          <p:nvPr/>
        </p:nvSpPr>
        <p:spPr>
          <a:xfrm>
            <a:off x="1005840" y="3886200"/>
            <a:ext cx="2834640" cy="457200"/>
          </a:xfrm>
          <a:prstGeom prst="rect">
            <a:avLst/>
          </a:prstGeom>
          <a:noFill/>
          <a:ln/>
        </p:spPr>
        <p:txBody>
          <a:bodyPr wrap="square" lIns="0" tIns="0" rIns="0" bIns="0" rtlCol="0" anchor="t"/>
          <a:lstStyle/>
          <a:p>
            <a:pPr indent="0" marL="0">
              <a:lnSpc>
                <a:spcPct val="110000"/>
              </a:lnSpc>
              <a:buNone/>
            </a:pPr>
            <a:r>
              <a:rPr lang="en-US" sz="1100" dirty="0">
                <a:solidFill>
                  <a:srgbClr val="2B2B33"/>
                </a:solidFill>
                <a:latin typeface="Calibri" pitchFamily="34" charset="0"/>
                <a:ea typeface="Calibri" pitchFamily="34" charset="-122"/>
                <a:cs typeface="Calibri" pitchFamily="34" charset="-120"/>
              </a:rPr>
              <a:t>Imputed 37 missing review ratings using category median</a:t>
            </a:r>
            <a:endParaRPr lang="en-US" sz="1100" dirty="0"/>
          </a:p>
        </p:txBody>
      </p:sp>
      <p:sp>
        <p:nvSpPr>
          <p:cNvPr id="12" name="Shape 10"/>
          <p:cNvSpPr/>
          <p:nvPr/>
        </p:nvSpPr>
        <p:spPr>
          <a:xfrm>
            <a:off x="795528" y="4407408"/>
            <a:ext cx="73152" cy="73152"/>
          </a:xfrm>
          <a:prstGeom prst="ellipse">
            <a:avLst/>
          </a:prstGeom>
          <a:solidFill>
            <a:srgbClr val="F96167"/>
          </a:solidFill>
          <a:ln/>
        </p:spPr>
      </p:sp>
      <p:sp>
        <p:nvSpPr>
          <p:cNvPr id="13" name="Text 11"/>
          <p:cNvSpPr/>
          <p:nvPr/>
        </p:nvSpPr>
        <p:spPr>
          <a:xfrm>
            <a:off x="1005840" y="4343400"/>
            <a:ext cx="2834640" cy="457200"/>
          </a:xfrm>
          <a:prstGeom prst="rect">
            <a:avLst/>
          </a:prstGeom>
          <a:noFill/>
          <a:ln/>
        </p:spPr>
        <p:txBody>
          <a:bodyPr wrap="square" lIns="0" tIns="0" rIns="0" bIns="0" rtlCol="0" anchor="t"/>
          <a:lstStyle/>
          <a:p>
            <a:pPr indent="0" marL="0">
              <a:lnSpc>
                <a:spcPct val="110000"/>
              </a:lnSpc>
              <a:buNone/>
            </a:pPr>
            <a:r>
              <a:rPr lang="en-US" sz="1100" dirty="0">
                <a:solidFill>
                  <a:srgbClr val="2B2B33"/>
                </a:solidFill>
                <a:latin typeface="Calibri" pitchFamily="34" charset="0"/>
                <a:ea typeface="Calibri" pitchFamily="34" charset="-122"/>
                <a:cs typeface="Calibri" pitchFamily="34" charset="-120"/>
              </a:rPr>
              <a:t>Standardized columns to snake_case</a:t>
            </a:r>
            <a:endParaRPr lang="en-US" sz="1100" dirty="0"/>
          </a:p>
        </p:txBody>
      </p:sp>
      <p:sp>
        <p:nvSpPr>
          <p:cNvPr id="14" name="Shape 12"/>
          <p:cNvSpPr/>
          <p:nvPr/>
        </p:nvSpPr>
        <p:spPr>
          <a:xfrm>
            <a:off x="795528" y="4864608"/>
            <a:ext cx="73152" cy="73152"/>
          </a:xfrm>
          <a:prstGeom prst="ellipse">
            <a:avLst/>
          </a:prstGeom>
          <a:solidFill>
            <a:srgbClr val="F96167"/>
          </a:solidFill>
          <a:ln/>
        </p:spPr>
      </p:sp>
      <p:sp>
        <p:nvSpPr>
          <p:cNvPr id="15" name="Text 13"/>
          <p:cNvSpPr/>
          <p:nvPr/>
        </p:nvSpPr>
        <p:spPr>
          <a:xfrm>
            <a:off x="1005840" y="4800600"/>
            <a:ext cx="2834640" cy="457200"/>
          </a:xfrm>
          <a:prstGeom prst="rect">
            <a:avLst/>
          </a:prstGeom>
          <a:noFill/>
          <a:ln/>
        </p:spPr>
        <p:txBody>
          <a:bodyPr wrap="square" lIns="0" tIns="0" rIns="0" bIns="0" rtlCol="0" anchor="t"/>
          <a:lstStyle/>
          <a:p>
            <a:pPr indent="0" marL="0">
              <a:lnSpc>
                <a:spcPct val="110000"/>
              </a:lnSpc>
              <a:buNone/>
            </a:pPr>
            <a:r>
              <a:rPr lang="en-US" sz="1100" dirty="0">
                <a:solidFill>
                  <a:srgbClr val="2B2B33"/>
                </a:solidFill>
                <a:latin typeface="Calibri" pitchFamily="34" charset="0"/>
                <a:ea typeface="Calibri" pitchFamily="34" charset="-122"/>
                <a:cs typeface="Calibri" pitchFamily="34" charset="-120"/>
              </a:rPr>
              <a:t>Engineered age_group &amp; purchase_frequency_days</a:t>
            </a:r>
            <a:endParaRPr lang="en-US" sz="1100" dirty="0"/>
          </a:p>
        </p:txBody>
      </p:sp>
      <p:sp>
        <p:nvSpPr>
          <p:cNvPr id="16" name="Shape 14"/>
          <p:cNvSpPr/>
          <p:nvPr/>
        </p:nvSpPr>
        <p:spPr>
          <a:xfrm>
            <a:off x="795528" y="5321808"/>
            <a:ext cx="73152" cy="73152"/>
          </a:xfrm>
          <a:prstGeom prst="ellipse">
            <a:avLst/>
          </a:prstGeom>
          <a:solidFill>
            <a:srgbClr val="F96167"/>
          </a:solidFill>
          <a:ln/>
        </p:spPr>
      </p:sp>
      <p:sp>
        <p:nvSpPr>
          <p:cNvPr id="17" name="Text 15"/>
          <p:cNvSpPr/>
          <p:nvPr/>
        </p:nvSpPr>
        <p:spPr>
          <a:xfrm>
            <a:off x="1005840" y="5257800"/>
            <a:ext cx="2834640" cy="457200"/>
          </a:xfrm>
          <a:prstGeom prst="rect">
            <a:avLst/>
          </a:prstGeom>
          <a:noFill/>
          <a:ln/>
        </p:spPr>
        <p:txBody>
          <a:bodyPr wrap="square" lIns="0" tIns="0" rIns="0" bIns="0" rtlCol="0" anchor="t"/>
          <a:lstStyle/>
          <a:p>
            <a:pPr indent="0" marL="0">
              <a:lnSpc>
                <a:spcPct val="110000"/>
              </a:lnSpc>
              <a:buNone/>
            </a:pPr>
            <a:r>
              <a:rPr lang="en-US" sz="1100" dirty="0">
                <a:solidFill>
                  <a:srgbClr val="2B2B33"/>
                </a:solidFill>
                <a:latin typeface="Calibri" pitchFamily="34" charset="0"/>
                <a:ea typeface="Calibri" pitchFamily="34" charset="-122"/>
                <a:cs typeface="Calibri" pitchFamily="34" charset="-120"/>
              </a:rPr>
              <a:t>Dropped redundant promo_code_used column</a:t>
            </a:r>
            <a:endParaRPr lang="en-US" sz="1100" dirty="0"/>
          </a:p>
        </p:txBody>
      </p:sp>
      <p:sp>
        <p:nvSpPr>
          <p:cNvPr id="18" name="Shape 16"/>
          <p:cNvSpPr/>
          <p:nvPr/>
        </p:nvSpPr>
        <p:spPr>
          <a:xfrm>
            <a:off x="795528" y="5779008"/>
            <a:ext cx="73152" cy="73152"/>
          </a:xfrm>
          <a:prstGeom prst="ellipse">
            <a:avLst/>
          </a:prstGeom>
          <a:solidFill>
            <a:srgbClr val="F96167"/>
          </a:solidFill>
          <a:ln/>
        </p:spPr>
      </p:sp>
      <p:sp>
        <p:nvSpPr>
          <p:cNvPr id="19" name="Text 17"/>
          <p:cNvSpPr/>
          <p:nvPr/>
        </p:nvSpPr>
        <p:spPr>
          <a:xfrm>
            <a:off x="1005840" y="5715000"/>
            <a:ext cx="2834640" cy="457200"/>
          </a:xfrm>
          <a:prstGeom prst="rect">
            <a:avLst/>
          </a:prstGeom>
          <a:noFill/>
          <a:ln/>
        </p:spPr>
        <p:txBody>
          <a:bodyPr wrap="square" lIns="0" tIns="0" rIns="0" bIns="0" rtlCol="0" anchor="t"/>
          <a:lstStyle/>
          <a:p>
            <a:pPr indent="0" marL="0">
              <a:lnSpc>
                <a:spcPct val="110000"/>
              </a:lnSpc>
              <a:buNone/>
            </a:pPr>
            <a:r>
              <a:rPr lang="en-US" sz="1100" dirty="0">
                <a:solidFill>
                  <a:srgbClr val="2B2B33"/>
                </a:solidFill>
                <a:latin typeface="Calibri" pitchFamily="34" charset="0"/>
                <a:ea typeface="Calibri" pitchFamily="34" charset="-122"/>
                <a:cs typeface="Calibri" pitchFamily="34" charset="-120"/>
              </a:rPr>
              <a:t>Loaded cleaned data into PostgreSQL</a:t>
            </a:r>
            <a:endParaRPr lang="en-US" sz="1100" dirty="0"/>
          </a:p>
        </p:txBody>
      </p:sp>
      <p:sp>
        <p:nvSpPr>
          <p:cNvPr id="20" name="Shape 18"/>
          <p:cNvSpPr/>
          <p:nvPr/>
        </p:nvSpPr>
        <p:spPr>
          <a:xfrm>
            <a:off x="4343400" y="2148840"/>
            <a:ext cx="3520440" cy="4023360"/>
          </a:xfrm>
          <a:prstGeom prst="roundRect">
            <a:avLst>
              <a:gd name="adj" fmla="val 3117"/>
            </a:avLst>
          </a:prstGeom>
          <a:solidFill>
            <a:srgbClr val="2F3C7E"/>
          </a:solidFill>
          <a:ln/>
          <a:effectLst>
            <a:outerShdw sx="100000" sy="100000" kx="0" ky="0" algn="bl" rotWithShape="0" blurRad="76200" dist="25400" dir="5400000">
              <a:srgbClr val="000000">
                <a:alpha val="10000"/>
              </a:srgbClr>
            </a:outerShdw>
          </a:effectLst>
        </p:spPr>
      </p:sp>
      <p:sp>
        <p:nvSpPr>
          <p:cNvPr id="21" name="Text 19"/>
          <p:cNvSpPr/>
          <p:nvPr/>
        </p:nvSpPr>
        <p:spPr>
          <a:xfrm>
            <a:off x="4572000" y="2331720"/>
            <a:ext cx="1188720" cy="640080"/>
          </a:xfrm>
          <a:prstGeom prst="rect">
            <a:avLst/>
          </a:prstGeom>
          <a:noFill/>
          <a:ln/>
        </p:spPr>
        <p:txBody>
          <a:bodyPr wrap="square" lIns="0" tIns="0" rIns="0" bIns="0" rtlCol="0" anchor="ctr"/>
          <a:lstStyle/>
          <a:p>
            <a:pPr indent="0" marL="0">
              <a:buNone/>
            </a:pPr>
            <a:r>
              <a:rPr lang="en-US" sz="2800" b="1" dirty="0">
                <a:solidFill>
                  <a:srgbClr val="44508C"/>
                </a:solidFill>
                <a:latin typeface="Cambria" pitchFamily="34" charset="0"/>
                <a:ea typeface="Cambria" pitchFamily="34" charset="-122"/>
                <a:cs typeface="Cambria" pitchFamily="34" charset="-120"/>
              </a:rPr>
              <a:t>02</a:t>
            </a:r>
            <a:endParaRPr lang="en-US" sz="2800" dirty="0"/>
          </a:p>
        </p:txBody>
      </p:sp>
      <p:sp>
        <p:nvSpPr>
          <p:cNvPr id="22" name="Text 20"/>
          <p:cNvSpPr/>
          <p:nvPr/>
        </p:nvSpPr>
        <p:spPr>
          <a:xfrm>
            <a:off x="4572000" y="2834640"/>
            <a:ext cx="3063240" cy="45720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SQL (PostgreSQL)</a:t>
            </a:r>
            <a:endParaRPr lang="en-US" sz="1600" dirty="0"/>
          </a:p>
        </p:txBody>
      </p:sp>
      <p:sp>
        <p:nvSpPr>
          <p:cNvPr id="23" name="Shape 21"/>
          <p:cNvSpPr/>
          <p:nvPr/>
        </p:nvSpPr>
        <p:spPr>
          <a:xfrm>
            <a:off x="4590288" y="3493008"/>
            <a:ext cx="73152" cy="73152"/>
          </a:xfrm>
          <a:prstGeom prst="ellipse">
            <a:avLst/>
          </a:prstGeom>
          <a:solidFill>
            <a:srgbClr val="F9E795"/>
          </a:solidFill>
          <a:ln/>
        </p:spPr>
      </p:sp>
      <p:sp>
        <p:nvSpPr>
          <p:cNvPr id="24" name="Text 22"/>
          <p:cNvSpPr/>
          <p:nvPr/>
        </p:nvSpPr>
        <p:spPr>
          <a:xfrm>
            <a:off x="4800600" y="3429000"/>
            <a:ext cx="2834640" cy="457200"/>
          </a:xfrm>
          <a:prstGeom prst="rect">
            <a:avLst/>
          </a:prstGeom>
          <a:noFill/>
          <a:ln/>
        </p:spPr>
        <p:txBody>
          <a:bodyPr wrap="square" lIns="0" tIns="0" rIns="0" bIns="0" rtlCol="0" anchor="t"/>
          <a:lstStyle/>
          <a:p>
            <a:pPr indent="0" marL="0">
              <a:lnSpc>
                <a:spcPct val="110000"/>
              </a:lnSpc>
              <a:buNone/>
            </a:pPr>
            <a:r>
              <a:rPr lang="en-US" sz="1100" dirty="0">
                <a:solidFill>
                  <a:srgbClr val="D8DCF4"/>
                </a:solidFill>
                <a:latin typeface="Calibri" pitchFamily="34" charset="0"/>
                <a:ea typeface="Calibri" pitchFamily="34" charset="-122"/>
                <a:cs typeface="Calibri" pitchFamily="34" charset="-120"/>
              </a:rPr>
              <a:t>Revenue by gender, age group &amp; subscription status</a:t>
            </a:r>
            <a:endParaRPr lang="en-US" sz="1100" dirty="0"/>
          </a:p>
        </p:txBody>
      </p:sp>
      <p:sp>
        <p:nvSpPr>
          <p:cNvPr id="25" name="Shape 23"/>
          <p:cNvSpPr/>
          <p:nvPr/>
        </p:nvSpPr>
        <p:spPr>
          <a:xfrm>
            <a:off x="4590288" y="3950208"/>
            <a:ext cx="73152" cy="73152"/>
          </a:xfrm>
          <a:prstGeom prst="ellipse">
            <a:avLst/>
          </a:prstGeom>
          <a:solidFill>
            <a:srgbClr val="F9E795"/>
          </a:solidFill>
          <a:ln/>
        </p:spPr>
      </p:sp>
      <p:sp>
        <p:nvSpPr>
          <p:cNvPr id="26" name="Text 24"/>
          <p:cNvSpPr/>
          <p:nvPr/>
        </p:nvSpPr>
        <p:spPr>
          <a:xfrm>
            <a:off x="4800600" y="3886200"/>
            <a:ext cx="2834640" cy="457200"/>
          </a:xfrm>
          <a:prstGeom prst="rect">
            <a:avLst/>
          </a:prstGeom>
          <a:noFill/>
          <a:ln/>
        </p:spPr>
        <p:txBody>
          <a:bodyPr wrap="square" lIns="0" tIns="0" rIns="0" bIns="0" rtlCol="0" anchor="t"/>
          <a:lstStyle/>
          <a:p>
            <a:pPr indent="0" marL="0">
              <a:lnSpc>
                <a:spcPct val="110000"/>
              </a:lnSpc>
              <a:buNone/>
            </a:pPr>
            <a:r>
              <a:rPr lang="en-US" sz="1100" dirty="0">
                <a:solidFill>
                  <a:srgbClr val="D8DCF4"/>
                </a:solidFill>
                <a:latin typeface="Calibri" pitchFamily="34" charset="0"/>
                <a:ea typeface="Calibri" pitchFamily="34" charset="-122"/>
                <a:cs typeface="Calibri" pitchFamily="34" charset="-120"/>
              </a:rPr>
              <a:t>High-spending discount users vs. average</a:t>
            </a:r>
            <a:endParaRPr lang="en-US" sz="1100" dirty="0"/>
          </a:p>
        </p:txBody>
      </p:sp>
      <p:sp>
        <p:nvSpPr>
          <p:cNvPr id="27" name="Shape 25"/>
          <p:cNvSpPr/>
          <p:nvPr/>
        </p:nvSpPr>
        <p:spPr>
          <a:xfrm>
            <a:off x="4590288" y="4407408"/>
            <a:ext cx="73152" cy="73152"/>
          </a:xfrm>
          <a:prstGeom prst="ellipse">
            <a:avLst/>
          </a:prstGeom>
          <a:solidFill>
            <a:srgbClr val="F9E795"/>
          </a:solidFill>
          <a:ln/>
        </p:spPr>
      </p:sp>
      <p:sp>
        <p:nvSpPr>
          <p:cNvPr id="28" name="Text 26"/>
          <p:cNvSpPr/>
          <p:nvPr/>
        </p:nvSpPr>
        <p:spPr>
          <a:xfrm>
            <a:off x="4800600" y="4343400"/>
            <a:ext cx="2834640" cy="457200"/>
          </a:xfrm>
          <a:prstGeom prst="rect">
            <a:avLst/>
          </a:prstGeom>
          <a:noFill/>
          <a:ln/>
        </p:spPr>
        <p:txBody>
          <a:bodyPr wrap="square" lIns="0" tIns="0" rIns="0" bIns="0" rtlCol="0" anchor="t"/>
          <a:lstStyle/>
          <a:p>
            <a:pPr indent="0" marL="0">
              <a:lnSpc>
                <a:spcPct val="110000"/>
              </a:lnSpc>
              <a:buNone/>
            </a:pPr>
            <a:r>
              <a:rPr lang="en-US" sz="1100" dirty="0">
                <a:solidFill>
                  <a:srgbClr val="D8DCF4"/>
                </a:solidFill>
                <a:latin typeface="Calibri" pitchFamily="34" charset="0"/>
                <a:ea typeface="Calibri" pitchFamily="34" charset="-122"/>
                <a:cs typeface="Calibri" pitchFamily="34" charset="-120"/>
              </a:rPr>
              <a:t>Top products by rating and by category</a:t>
            </a:r>
            <a:endParaRPr lang="en-US" sz="1100" dirty="0"/>
          </a:p>
        </p:txBody>
      </p:sp>
      <p:sp>
        <p:nvSpPr>
          <p:cNvPr id="29" name="Shape 27"/>
          <p:cNvSpPr/>
          <p:nvPr/>
        </p:nvSpPr>
        <p:spPr>
          <a:xfrm>
            <a:off x="4590288" y="4864608"/>
            <a:ext cx="73152" cy="73152"/>
          </a:xfrm>
          <a:prstGeom prst="ellipse">
            <a:avLst/>
          </a:prstGeom>
          <a:solidFill>
            <a:srgbClr val="F9E795"/>
          </a:solidFill>
          <a:ln/>
        </p:spPr>
      </p:sp>
      <p:sp>
        <p:nvSpPr>
          <p:cNvPr id="30" name="Text 28"/>
          <p:cNvSpPr/>
          <p:nvPr/>
        </p:nvSpPr>
        <p:spPr>
          <a:xfrm>
            <a:off x="4800600" y="4800600"/>
            <a:ext cx="2834640" cy="457200"/>
          </a:xfrm>
          <a:prstGeom prst="rect">
            <a:avLst/>
          </a:prstGeom>
          <a:noFill/>
          <a:ln/>
        </p:spPr>
        <p:txBody>
          <a:bodyPr wrap="square" lIns="0" tIns="0" rIns="0" bIns="0" rtlCol="0" anchor="t"/>
          <a:lstStyle/>
          <a:p>
            <a:pPr indent="0" marL="0">
              <a:lnSpc>
                <a:spcPct val="110000"/>
              </a:lnSpc>
              <a:buNone/>
            </a:pPr>
            <a:r>
              <a:rPr lang="en-US" sz="1100" dirty="0">
                <a:solidFill>
                  <a:srgbClr val="D8DCF4"/>
                </a:solidFill>
                <a:latin typeface="Calibri" pitchFamily="34" charset="0"/>
                <a:ea typeface="Calibri" pitchFamily="34" charset="-122"/>
                <a:cs typeface="Calibri" pitchFamily="34" charset="-120"/>
              </a:rPr>
              <a:t>Shipping-type spend comparison</a:t>
            </a:r>
            <a:endParaRPr lang="en-US" sz="1100" dirty="0"/>
          </a:p>
        </p:txBody>
      </p:sp>
      <p:sp>
        <p:nvSpPr>
          <p:cNvPr id="31" name="Shape 29"/>
          <p:cNvSpPr/>
          <p:nvPr/>
        </p:nvSpPr>
        <p:spPr>
          <a:xfrm>
            <a:off x="4590288" y="5321808"/>
            <a:ext cx="73152" cy="73152"/>
          </a:xfrm>
          <a:prstGeom prst="ellipse">
            <a:avLst/>
          </a:prstGeom>
          <a:solidFill>
            <a:srgbClr val="F9E795"/>
          </a:solidFill>
          <a:ln/>
        </p:spPr>
      </p:sp>
      <p:sp>
        <p:nvSpPr>
          <p:cNvPr id="32" name="Text 30"/>
          <p:cNvSpPr/>
          <p:nvPr/>
        </p:nvSpPr>
        <p:spPr>
          <a:xfrm>
            <a:off x="4800600" y="5257800"/>
            <a:ext cx="2834640" cy="457200"/>
          </a:xfrm>
          <a:prstGeom prst="rect">
            <a:avLst/>
          </a:prstGeom>
          <a:noFill/>
          <a:ln/>
        </p:spPr>
        <p:txBody>
          <a:bodyPr wrap="square" lIns="0" tIns="0" rIns="0" bIns="0" rtlCol="0" anchor="t"/>
          <a:lstStyle/>
          <a:p>
            <a:pPr indent="0" marL="0">
              <a:lnSpc>
                <a:spcPct val="110000"/>
              </a:lnSpc>
              <a:buNone/>
            </a:pPr>
            <a:r>
              <a:rPr lang="en-US" sz="1100" dirty="0">
                <a:solidFill>
                  <a:srgbClr val="D8DCF4"/>
                </a:solidFill>
                <a:latin typeface="Calibri" pitchFamily="34" charset="0"/>
                <a:ea typeface="Calibri" pitchFamily="34" charset="-122"/>
                <a:cs typeface="Calibri" pitchFamily="34" charset="-120"/>
              </a:rPr>
              <a:t>Discount-dependent products</a:t>
            </a:r>
            <a:endParaRPr lang="en-US" sz="1100" dirty="0"/>
          </a:p>
        </p:txBody>
      </p:sp>
      <p:sp>
        <p:nvSpPr>
          <p:cNvPr id="33" name="Shape 31"/>
          <p:cNvSpPr/>
          <p:nvPr/>
        </p:nvSpPr>
        <p:spPr>
          <a:xfrm>
            <a:off x="4590288" y="5779008"/>
            <a:ext cx="73152" cy="73152"/>
          </a:xfrm>
          <a:prstGeom prst="ellipse">
            <a:avLst/>
          </a:prstGeom>
          <a:solidFill>
            <a:srgbClr val="F9E795"/>
          </a:solidFill>
          <a:ln/>
        </p:spPr>
      </p:sp>
      <p:sp>
        <p:nvSpPr>
          <p:cNvPr id="34" name="Text 32"/>
          <p:cNvSpPr/>
          <p:nvPr/>
        </p:nvSpPr>
        <p:spPr>
          <a:xfrm>
            <a:off x="4800600" y="5715000"/>
            <a:ext cx="2834640" cy="457200"/>
          </a:xfrm>
          <a:prstGeom prst="rect">
            <a:avLst/>
          </a:prstGeom>
          <a:noFill/>
          <a:ln/>
        </p:spPr>
        <p:txBody>
          <a:bodyPr wrap="square" lIns="0" tIns="0" rIns="0" bIns="0" rtlCol="0" anchor="t"/>
          <a:lstStyle/>
          <a:p>
            <a:pPr indent="0" marL="0">
              <a:lnSpc>
                <a:spcPct val="110000"/>
              </a:lnSpc>
              <a:buNone/>
            </a:pPr>
            <a:r>
              <a:rPr lang="en-US" sz="1100" dirty="0">
                <a:solidFill>
                  <a:srgbClr val="D8DCF4"/>
                </a:solidFill>
                <a:latin typeface="Calibri" pitchFamily="34" charset="0"/>
                <a:ea typeface="Calibri" pitchFamily="34" charset="-122"/>
                <a:cs typeface="Calibri" pitchFamily="34" charset="-120"/>
              </a:rPr>
              <a:t>Customer segmentation: New / Returning / Loyal</a:t>
            </a:r>
            <a:endParaRPr lang="en-US" sz="1100" dirty="0"/>
          </a:p>
        </p:txBody>
      </p:sp>
      <p:sp>
        <p:nvSpPr>
          <p:cNvPr id="35" name="Shape 33"/>
          <p:cNvSpPr/>
          <p:nvPr/>
        </p:nvSpPr>
        <p:spPr>
          <a:xfrm>
            <a:off x="8138160" y="2148840"/>
            <a:ext cx="3520440" cy="4023360"/>
          </a:xfrm>
          <a:prstGeom prst="roundRect">
            <a:avLst>
              <a:gd name="adj" fmla="val 3117"/>
            </a:avLst>
          </a:prstGeom>
          <a:solidFill>
            <a:srgbClr val="F7F7FA"/>
          </a:solidFill>
          <a:ln/>
          <a:effectLst>
            <a:outerShdw sx="100000" sy="100000" kx="0" ky="0" algn="bl" rotWithShape="0" blurRad="76200" dist="25400" dir="5400000">
              <a:srgbClr val="000000">
                <a:alpha val="10000"/>
              </a:srgbClr>
            </a:outerShdw>
          </a:effectLst>
        </p:spPr>
      </p:sp>
      <p:sp>
        <p:nvSpPr>
          <p:cNvPr id="36" name="Text 34"/>
          <p:cNvSpPr/>
          <p:nvPr/>
        </p:nvSpPr>
        <p:spPr>
          <a:xfrm>
            <a:off x="8366760" y="2331720"/>
            <a:ext cx="1188720" cy="640080"/>
          </a:xfrm>
          <a:prstGeom prst="rect">
            <a:avLst/>
          </a:prstGeom>
          <a:noFill/>
          <a:ln/>
        </p:spPr>
        <p:txBody>
          <a:bodyPr wrap="square" lIns="0" tIns="0" rIns="0" bIns="0" rtlCol="0" anchor="ctr"/>
          <a:lstStyle/>
          <a:p>
            <a:pPr indent="0" marL="0">
              <a:buNone/>
            </a:pPr>
            <a:r>
              <a:rPr lang="en-US" sz="2800" b="1" dirty="0">
                <a:solidFill>
                  <a:srgbClr val="E3E6F2"/>
                </a:solidFill>
                <a:latin typeface="Cambria" pitchFamily="34" charset="0"/>
                <a:ea typeface="Cambria" pitchFamily="34" charset="-122"/>
                <a:cs typeface="Cambria" pitchFamily="34" charset="-120"/>
              </a:rPr>
              <a:t>03</a:t>
            </a:r>
            <a:endParaRPr lang="en-US" sz="2800" dirty="0"/>
          </a:p>
        </p:txBody>
      </p:sp>
      <p:sp>
        <p:nvSpPr>
          <p:cNvPr id="37" name="Text 35"/>
          <p:cNvSpPr/>
          <p:nvPr/>
        </p:nvSpPr>
        <p:spPr>
          <a:xfrm>
            <a:off x="8366760" y="2834640"/>
            <a:ext cx="3063240" cy="457200"/>
          </a:xfrm>
          <a:prstGeom prst="rect">
            <a:avLst/>
          </a:prstGeom>
          <a:noFill/>
          <a:ln/>
        </p:spPr>
        <p:txBody>
          <a:bodyPr wrap="square" lIns="0" tIns="0" rIns="0" bIns="0" rtlCol="0" anchor="ctr"/>
          <a:lstStyle/>
          <a:p>
            <a:pPr indent="0" marL="0">
              <a:buNone/>
            </a:pPr>
            <a:r>
              <a:rPr lang="en-US" sz="1600" b="1" dirty="0">
                <a:solidFill>
                  <a:srgbClr val="2F3C7E"/>
                </a:solidFill>
                <a:latin typeface="Cambria" pitchFamily="34" charset="0"/>
                <a:ea typeface="Cambria" pitchFamily="34" charset="-122"/>
                <a:cs typeface="Cambria" pitchFamily="34" charset="-120"/>
              </a:rPr>
              <a:t>Power BI</a:t>
            </a:r>
            <a:endParaRPr lang="en-US" sz="1600" dirty="0"/>
          </a:p>
        </p:txBody>
      </p:sp>
      <p:sp>
        <p:nvSpPr>
          <p:cNvPr id="38" name="Shape 36"/>
          <p:cNvSpPr/>
          <p:nvPr/>
        </p:nvSpPr>
        <p:spPr>
          <a:xfrm>
            <a:off x="8385048" y="3493008"/>
            <a:ext cx="73152" cy="73152"/>
          </a:xfrm>
          <a:prstGeom prst="ellipse">
            <a:avLst/>
          </a:prstGeom>
          <a:solidFill>
            <a:srgbClr val="F96167"/>
          </a:solidFill>
          <a:ln/>
        </p:spPr>
      </p:sp>
      <p:sp>
        <p:nvSpPr>
          <p:cNvPr id="39" name="Text 37"/>
          <p:cNvSpPr/>
          <p:nvPr/>
        </p:nvSpPr>
        <p:spPr>
          <a:xfrm>
            <a:off x="8595360" y="3429000"/>
            <a:ext cx="2834640" cy="457200"/>
          </a:xfrm>
          <a:prstGeom prst="rect">
            <a:avLst/>
          </a:prstGeom>
          <a:noFill/>
          <a:ln/>
        </p:spPr>
        <p:txBody>
          <a:bodyPr wrap="square" lIns="0" tIns="0" rIns="0" bIns="0" rtlCol="0" anchor="t"/>
          <a:lstStyle/>
          <a:p>
            <a:pPr indent="0" marL="0">
              <a:lnSpc>
                <a:spcPct val="110000"/>
              </a:lnSpc>
              <a:buNone/>
            </a:pPr>
            <a:r>
              <a:rPr lang="en-US" sz="1100" dirty="0">
                <a:solidFill>
                  <a:srgbClr val="2B2B33"/>
                </a:solidFill>
                <a:latin typeface="Calibri" pitchFamily="34" charset="0"/>
                <a:ea typeface="Calibri" pitchFamily="34" charset="-122"/>
                <a:cs typeface="Calibri" pitchFamily="34" charset="-120"/>
              </a:rPr>
              <a:t>Interactive dashboard with slicers</a:t>
            </a:r>
            <a:endParaRPr lang="en-US" sz="1100" dirty="0"/>
          </a:p>
        </p:txBody>
      </p:sp>
      <p:sp>
        <p:nvSpPr>
          <p:cNvPr id="40" name="Shape 38"/>
          <p:cNvSpPr/>
          <p:nvPr/>
        </p:nvSpPr>
        <p:spPr>
          <a:xfrm>
            <a:off x="8385048" y="3950208"/>
            <a:ext cx="73152" cy="73152"/>
          </a:xfrm>
          <a:prstGeom prst="ellipse">
            <a:avLst/>
          </a:prstGeom>
          <a:solidFill>
            <a:srgbClr val="F96167"/>
          </a:solidFill>
          <a:ln/>
        </p:spPr>
      </p:sp>
      <p:sp>
        <p:nvSpPr>
          <p:cNvPr id="41" name="Text 39"/>
          <p:cNvSpPr/>
          <p:nvPr/>
        </p:nvSpPr>
        <p:spPr>
          <a:xfrm>
            <a:off x="8595360" y="3886200"/>
            <a:ext cx="2834640" cy="457200"/>
          </a:xfrm>
          <a:prstGeom prst="rect">
            <a:avLst/>
          </a:prstGeom>
          <a:noFill/>
          <a:ln/>
        </p:spPr>
        <p:txBody>
          <a:bodyPr wrap="square" lIns="0" tIns="0" rIns="0" bIns="0" rtlCol="0" anchor="t"/>
          <a:lstStyle/>
          <a:p>
            <a:pPr indent="0" marL="0">
              <a:lnSpc>
                <a:spcPct val="110000"/>
              </a:lnSpc>
              <a:buNone/>
            </a:pPr>
            <a:r>
              <a:rPr lang="en-US" sz="1100" dirty="0">
                <a:solidFill>
                  <a:srgbClr val="2B2B33"/>
                </a:solidFill>
                <a:latin typeface="Calibri" pitchFamily="34" charset="0"/>
                <a:ea typeface="Calibri" pitchFamily="34" charset="-122"/>
                <a:cs typeface="Calibri" pitchFamily="34" charset="-120"/>
              </a:rPr>
              <a:t>Revenue &amp; sales by category and age group</a:t>
            </a:r>
            <a:endParaRPr lang="en-US" sz="1100" dirty="0"/>
          </a:p>
        </p:txBody>
      </p:sp>
      <p:sp>
        <p:nvSpPr>
          <p:cNvPr id="42" name="Shape 40"/>
          <p:cNvSpPr/>
          <p:nvPr/>
        </p:nvSpPr>
        <p:spPr>
          <a:xfrm>
            <a:off x="8385048" y="4407408"/>
            <a:ext cx="73152" cy="73152"/>
          </a:xfrm>
          <a:prstGeom prst="ellipse">
            <a:avLst/>
          </a:prstGeom>
          <a:solidFill>
            <a:srgbClr val="F96167"/>
          </a:solidFill>
          <a:ln/>
        </p:spPr>
      </p:sp>
      <p:sp>
        <p:nvSpPr>
          <p:cNvPr id="43" name="Text 41"/>
          <p:cNvSpPr/>
          <p:nvPr/>
        </p:nvSpPr>
        <p:spPr>
          <a:xfrm>
            <a:off x="8595360" y="4343400"/>
            <a:ext cx="2834640" cy="457200"/>
          </a:xfrm>
          <a:prstGeom prst="rect">
            <a:avLst/>
          </a:prstGeom>
          <a:noFill/>
          <a:ln/>
        </p:spPr>
        <p:txBody>
          <a:bodyPr wrap="square" lIns="0" tIns="0" rIns="0" bIns="0" rtlCol="0" anchor="t"/>
          <a:lstStyle/>
          <a:p>
            <a:pPr indent="0" marL="0">
              <a:lnSpc>
                <a:spcPct val="110000"/>
              </a:lnSpc>
              <a:buNone/>
            </a:pPr>
            <a:r>
              <a:rPr lang="en-US" sz="1100" dirty="0">
                <a:solidFill>
                  <a:srgbClr val="2B2B33"/>
                </a:solidFill>
                <a:latin typeface="Calibri" pitchFamily="34" charset="0"/>
                <a:ea typeface="Calibri" pitchFamily="34" charset="-122"/>
                <a:cs typeface="Calibri" pitchFamily="34" charset="-120"/>
              </a:rPr>
              <a:t>Subscription status breakdown</a:t>
            </a:r>
            <a:endParaRPr lang="en-US" sz="1100" dirty="0"/>
          </a:p>
        </p:txBody>
      </p:sp>
      <p:sp>
        <p:nvSpPr>
          <p:cNvPr id="44" name="Shape 42"/>
          <p:cNvSpPr/>
          <p:nvPr/>
        </p:nvSpPr>
        <p:spPr>
          <a:xfrm>
            <a:off x="8385048" y="4864608"/>
            <a:ext cx="73152" cy="73152"/>
          </a:xfrm>
          <a:prstGeom prst="ellipse">
            <a:avLst/>
          </a:prstGeom>
          <a:solidFill>
            <a:srgbClr val="F96167"/>
          </a:solidFill>
          <a:ln/>
        </p:spPr>
      </p:sp>
      <p:sp>
        <p:nvSpPr>
          <p:cNvPr id="45" name="Text 43"/>
          <p:cNvSpPr/>
          <p:nvPr/>
        </p:nvSpPr>
        <p:spPr>
          <a:xfrm>
            <a:off x="8595360" y="4800600"/>
            <a:ext cx="2834640" cy="457200"/>
          </a:xfrm>
          <a:prstGeom prst="rect">
            <a:avLst/>
          </a:prstGeom>
          <a:noFill/>
          <a:ln/>
        </p:spPr>
        <p:txBody>
          <a:bodyPr wrap="square" lIns="0" tIns="0" rIns="0" bIns="0" rtlCol="0" anchor="t"/>
          <a:lstStyle/>
          <a:p>
            <a:pPr indent="0" marL="0">
              <a:lnSpc>
                <a:spcPct val="110000"/>
              </a:lnSpc>
              <a:buNone/>
            </a:pPr>
            <a:r>
              <a:rPr lang="en-US" sz="1100" dirty="0">
                <a:solidFill>
                  <a:srgbClr val="2B2B33"/>
                </a:solidFill>
                <a:latin typeface="Calibri" pitchFamily="34" charset="0"/>
                <a:ea typeface="Calibri" pitchFamily="34" charset="-122"/>
                <a:cs typeface="Calibri" pitchFamily="34" charset="-120"/>
              </a:rPr>
              <a:t>KPI cards: customers, avg. spend, avg. rating</a:t>
            </a:r>
            <a:endParaRPr lang="en-US" sz="1100" dirty="0"/>
          </a:p>
        </p:txBody>
      </p:sp>
      <p:sp>
        <p:nvSpPr>
          <p:cNvPr id="46" name="Text 44"/>
          <p:cNvSpPr/>
          <p:nvPr/>
        </p:nvSpPr>
        <p:spPr>
          <a:xfrm>
            <a:off x="457200" y="6519672"/>
            <a:ext cx="7315200" cy="274320"/>
          </a:xfrm>
          <a:prstGeom prst="rect">
            <a:avLst/>
          </a:prstGeom>
          <a:noFill/>
          <a:ln/>
        </p:spPr>
        <p:txBody>
          <a:bodyPr wrap="square" lIns="0" tIns="0" rIns="0" bIns="0" rtlCol="0" anchor="ctr"/>
          <a:lstStyle/>
          <a:p>
            <a:pPr indent="0" marL="0">
              <a:buNone/>
            </a:pPr>
            <a:r>
              <a:rPr lang="en-US" sz="900" i="1" dirty="0">
                <a:solidFill>
                  <a:srgbClr val="6B6E85"/>
                </a:solidFill>
                <a:latin typeface="Calibri" pitchFamily="34" charset="0"/>
                <a:ea typeface="Calibri" pitchFamily="34" charset="-122"/>
                <a:cs typeface="Calibri" pitchFamily="34" charset="-120"/>
              </a:rPr>
              <a:t>Customer Shopping Behavior Analysis</a:t>
            </a:r>
            <a:endParaRPr lang="en-US" sz="900" dirty="0"/>
          </a:p>
        </p:txBody>
      </p:sp>
      <p:sp>
        <p:nvSpPr>
          <p:cNvPr id="47" name="Text 45"/>
          <p:cNvSpPr/>
          <p:nvPr/>
        </p:nvSpPr>
        <p:spPr>
          <a:xfrm>
            <a:off x="11274552" y="6519672"/>
            <a:ext cx="457200" cy="274320"/>
          </a:xfrm>
          <a:prstGeom prst="rect">
            <a:avLst/>
          </a:prstGeom>
          <a:noFill/>
          <a:ln/>
        </p:spPr>
        <p:txBody>
          <a:bodyPr wrap="square" lIns="0" tIns="0" rIns="0" bIns="0" rtlCol="0" anchor="ctr"/>
          <a:lstStyle/>
          <a:p>
            <a:pPr algn="r" indent="0" marL="0">
              <a:buNone/>
            </a:pPr>
            <a:r>
              <a:rPr lang="en-US" sz="900" dirty="0">
                <a:solidFill>
                  <a:srgbClr val="6B6E85"/>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7315200" cy="640080"/>
          </a:xfrm>
          <a:prstGeom prst="rect">
            <a:avLst/>
          </a:prstGeom>
          <a:noFill/>
          <a:ln/>
        </p:spPr>
        <p:txBody>
          <a:bodyPr wrap="square" lIns="0" tIns="0" rIns="0" bIns="0" rtlCol="0" anchor="ctr"/>
          <a:lstStyle/>
          <a:p>
            <a:pPr algn="l" indent="0" marL="0">
              <a:buNone/>
            </a:pPr>
            <a:r>
              <a:rPr lang="en-US" sz="3000" b="1" dirty="0">
                <a:solidFill>
                  <a:srgbClr val="2F3C7E"/>
                </a:solidFill>
                <a:latin typeface="Cambria" pitchFamily="34" charset="0"/>
                <a:ea typeface="Cambria" pitchFamily="34" charset="-122"/>
                <a:cs typeface="Cambria" pitchFamily="34" charset="-120"/>
              </a:rPr>
              <a:t>Revenue by Gender</a:t>
            </a:r>
            <a:endParaRPr lang="en-US" sz="3000" dirty="0"/>
          </a:p>
        </p:txBody>
      </p:sp>
      <p:sp>
        <p:nvSpPr>
          <p:cNvPr id="3" name="Shape 1"/>
          <p:cNvSpPr/>
          <p:nvPr/>
        </p:nvSpPr>
        <p:spPr>
          <a:xfrm>
            <a:off x="548640" y="1143000"/>
            <a:ext cx="1280160" cy="54864"/>
          </a:xfrm>
          <a:prstGeom prst="rect">
            <a:avLst/>
          </a:prstGeom>
          <a:solidFill>
            <a:srgbClr val="F96167"/>
          </a:solidFill>
          <a:ln/>
        </p:spPr>
      </p:sp>
      <p:sp>
        <p:nvSpPr>
          <p:cNvPr id="4" name="Text 2"/>
          <p:cNvSpPr/>
          <p:nvPr/>
        </p:nvSpPr>
        <p:spPr>
          <a:xfrm>
            <a:off x="548640" y="1325880"/>
            <a:ext cx="6400800" cy="640080"/>
          </a:xfrm>
          <a:prstGeom prst="rect">
            <a:avLst/>
          </a:prstGeom>
          <a:noFill/>
          <a:ln/>
        </p:spPr>
        <p:txBody>
          <a:bodyPr wrap="square" lIns="0" tIns="0" rIns="0" bIns="0" rtlCol="0" anchor="ctr"/>
          <a:lstStyle/>
          <a:p>
            <a:pPr indent="0" marL="0">
              <a:lnSpc>
                <a:spcPct val="130000"/>
              </a:lnSpc>
              <a:buNone/>
            </a:pPr>
            <a:r>
              <a:rPr lang="en-US" sz="1400" dirty="0">
                <a:solidFill>
                  <a:srgbClr val="6B6E85"/>
                </a:solidFill>
                <a:latin typeface="Calibri" pitchFamily="34" charset="0"/>
                <a:ea typeface="Calibri" pitchFamily="34" charset="-122"/>
                <a:cs typeface="Calibri" pitchFamily="34" charset="-120"/>
              </a:rPr>
              <a:t>Male customers generated more than double the revenue of female customers in this dataset.</a:t>
            </a:r>
            <a:endParaRPr lang="en-US" sz="1400" dirty="0"/>
          </a:p>
        </p:txBody>
      </p:sp>
      <p:graphicFrame>
        <p:nvGraphicFramePr>
          <p:cNvPr id="5" name="Chart 0" descr=""/>
          <p:cNvGraphicFramePr/>
          <p:nvPr/>
        </p:nvGraphicFramePr>
        <p:xfrm>
          <a:off x="548640" y="2103120"/>
          <a:ext cx="6492240" cy="411480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452360" y="2103120"/>
            <a:ext cx="4206240" cy="1737360"/>
          </a:xfrm>
          <a:prstGeom prst="roundRect">
            <a:avLst>
              <a:gd name="adj" fmla="val 6316"/>
            </a:avLst>
          </a:prstGeom>
          <a:solidFill>
            <a:srgbClr val="2F3C7E"/>
          </a:solidFill>
          <a:ln/>
        </p:spPr>
      </p:sp>
      <p:sp>
        <p:nvSpPr>
          <p:cNvPr id="7" name="Text 4"/>
          <p:cNvSpPr/>
          <p:nvPr/>
        </p:nvSpPr>
        <p:spPr>
          <a:xfrm>
            <a:off x="7726680" y="2286000"/>
            <a:ext cx="365760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$157,890</a:t>
            </a:r>
            <a:endParaRPr lang="en-US" sz="3200" dirty="0"/>
          </a:p>
        </p:txBody>
      </p:sp>
      <p:sp>
        <p:nvSpPr>
          <p:cNvPr id="8" name="Text 5"/>
          <p:cNvSpPr/>
          <p:nvPr/>
        </p:nvSpPr>
        <p:spPr>
          <a:xfrm>
            <a:off x="7726680" y="2971800"/>
            <a:ext cx="3657600" cy="731520"/>
          </a:xfrm>
          <a:prstGeom prst="rect">
            <a:avLst/>
          </a:prstGeom>
          <a:noFill/>
          <a:ln/>
        </p:spPr>
        <p:txBody>
          <a:bodyPr wrap="square" lIns="0" tIns="0" rIns="0" bIns="0" rtlCol="0" anchor="ctr"/>
          <a:lstStyle/>
          <a:p>
            <a:pPr indent="0" marL="0">
              <a:lnSpc>
                <a:spcPct val="120000"/>
              </a:lnSpc>
              <a:buNone/>
            </a:pPr>
            <a:r>
              <a:rPr lang="en-US" sz="1250" dirty="0">
                <a:solidFill>
                  <a:srgbClr val="CBD3F2"/>
                </a:solidFill>
                <a:latin typeface="Calibri" pitchFamily="34" charset="0"/>
                <a:ea typeface="Calibri" pitchFamily="34" charset="-122"/>
                <a:cs typeface="Calibri" pitchFamily="34" charset="-120"/>
              </a:rPr>
              <a:t>Male revenue — 67.7% of total sales</a:t>
            </a:r>
            <a:endParaRPr lang="en-US" sz="1250" dirty="0"/>
          </a:p>
        </p:txBody>
      </p:sp>
      <p:sp>
        <p:nvSpPr>
          <p:cNvPr id="9" name="Shape 6"/>
          <p:cNvSpPr/>
          <p:nvPr/>
        </p:nvSpPr>
        <p:spPr>
          <a:xfrm>
            <a:off x="7452360" y="4023360"/>
            <a:ext cx="4206240" cy="1737360"/>
          </a:xfrm>
          <a:prstGeom prst="roundRect">
            <a:avLst>
              <a:gd name="adj" fmla="val 6316"/>
            </a:avLst>
          </a:prstGeom>
          <a:solidFill>
            <a:srgbClr val="F7F7FA"/>
          </a:solidFill>
          <a:ln/>
          <a:effectLst>
            <a:outerShdw sx="100000" sy="100000" kx="0" ky="0" algn="bl" rotWithShape="0" blurRad="76200" dist="25400" dir="5400000">
              <a:srgbClr val="000000">
                <a:alpha val="10000"/>
              </a:srgbClr>
            </a:outerShdw>
          </a:effectLst>
        </p:spPr>
      </p:sp>
      <p:sp>
        <p:nvSpPr>
          <p:cNvPr id="10" name="Text 7"/>
          <p:cNvSpPr/>
          <p:nvPr/>
        </p:nvSpPr>
        <p:spPr>
          <a:xfrm>
            <a:off x="7726680" y="4206240"/>
            <a:ext cx="3657600" cy="640080"/>
          </a:xfrm>
          <a:prstGeom prst="rect">
            <a:avLst/>
          </a:prstGeom>
          <a:noFill/>
          <a:ln/>
        </p:spPr>
        <p:txBody>
          <a:bodyPr wrap="square" lIns="0" tIns="0" rIns="0" bIns="0" rtlCol="0" anchor="ctr"/>
          <a:lstStyle/>
          <a:p>
            <a:pPr indent="0" marL="0">
              <a:buNone/>
            </a:pPr>
            <a:r>
              <a:rPr lang="en-US" sz="3200" b="1" dirty="0">
                <a:solidFill>
                  <a:srgbClr val="2F3C7E"/>
                </a:solidFill>
                <a:latin typeface="Cambria" pitchFamily="34" charset="0"/>
                <a:ea typeface="Cambria" pitchFamily="34" charset="-122"/>
                <a:cs typeface="Cambria" pitchFamily="34" charset="-120"/>
              </a:rPr>
              <a:t>$75,191</a:t>
            </a:r>
            <a:endParaRPr lang="en-US" sz="3200" dirty="0"/>
          </a:p>
        </p:txBody>
      </p:sp>
      <p:sp>
        <p:nvSpPr>
          <p:cNvPr id="11" name="Text 8"/>
          <p:cNvSpPr/>
          <p:nvPr/>
        </p:nvSpPr>
        <p:spPr>
          <a:xfrm>
            <a:off x="7726680" y="4892040"/>
            <a:ext cx="3657600" cy="731520"/>
          </a:xfrm>
          <a:prstGeom prst="rect">
            <a:avLst/>
          </a:prstGeom>
          <a:noFill/>
          <a:ln/>
        </p:spPr>
        <p:txBody>
          <a:bodyPr wrap="square" lIns="0" tIns="0" rIns="0" bIns="0" rtlCol="0" anchor="ctr"/>
          <a:lstStyle/>
          <a:p>
            <a:pPr indent="0" marL="0">
              <a:lnSpc>
                <a:spcPct val="120000"/>
              </a:lnSpc>
              <a:buNone/>
            </a:pPr>
            <a:r>
              <a:rPr lang="en-US" sz="1250" dirty="0">
                <a:solidFill>
                  <a:srgbClr val="6B6E85"/>
                </a:solidFill>
                <a:latin typeface="Calibri" pitchFamily="34" charset="0"/>
                <a:ea typeface="Calibri" pitchFamily="34" charset="-122"/>
                <a:cs typeface="Calibri" pitchFamily="34" charset="-120"/>
              </a:rPr>
              <a:t>Female revenue — 32.3% of total sales</a:t>
            </a:r>
            <a:endParaRPr lang="en-US" sz="1250" dirty="0"/>
          </a:p>
        </p:txBody>
      </p:sp>
      <p:sp>
        <p:nvSpPr>
          <p:cNvPr id="12" name="Text 9"/>
          <p:cNvSpPr/>
          <p:nvPr/>
        </p:nvSpPr>
        <p:spPr>
          <a:xfrm>
            <a:off x="457200" y="6519672"/>
            <a:ext cx="7315200" cy="274320"/>
          </a:xfrm>
          <a:prstGeom prst="rect">
            <a:avLst/>
          </a:prstGeom>
          <a:noFill/>
          <a:ln/>
        </p:spPr>
        <p:txBody>
          <a:bodyPr wrap="square" lIns="0" tIns="0" rIns="0" bIns="0" rtlCol="0" anchor="ctr"/>
          <a:lstStyle/>
          <a:p>
            <a:pPr indent="0" marL="0">
              <a:buNone/>
            </a:pPr>
            <a:r>
              <a:rPr lang="en-US" sz="900" i="1" dirty="0">
                <a:solidFill>
                  <a:srgbClr val="6B6E85"/>
                </a:solidFill>
                <a:latin typeface="Calibri" pitchFamily="34" charset="0"/>
                <a:ea typeface="Calibri" pitchFamily="34" charset="-122"/>
                <a:cs typeface="Calibri" pitchFamily="34" charset="-120"/>
              </a:rPr>
              <a:t>Customer Shopping Behavior Analysis</a:t>
            </a:r>
            <a:endParaRPr lang="en-US" sz="900" dirty="0"/>
          </a:p>
        </p:txBody>
      </p:sp>
      <p:sp>
        <p:nvSpPr>
          <p:cNvPr id="13" name="Text 10"/>
          <p:cNvSpPr/>
          <p:nvPr/>
        </p:nvSpPr>
        <p:spPr>
          <a:xfrm>
            <a:off x="11274552" y="6519672"/>
            <a:ext cx="457200" cy="274320"/>
          </a:xfrm>
          <a:prstGeom prst="rect">
            <a:avLst/>
          </a:prstGeom>
          <a:noFill/>
          <a:ln/>
        </p:spPr>
        <p:txBody>
          <a:bodyPr wrap="square" lIns="0" tIns="0" rIns="0" bIns="0" rtlCol="0" anchor="ctr"/>
          <a:lstStyle/>
          <a:p>
            <a:pPr algn="r" indent="0" marL="0">
              <a:buNone/>
            </a:pPr>
            <a:r>
              <a:rPr lang="en-US" sz="900" dirty="0">
                <a:solidFill>
                  <a:srgbClr val="6B6E85"/>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9144000" cy="640080"/>
          </a:xfrm>
          <a:prstGeom prst="rect">
            <a:avLst/>
          </a:prstGeom>
          <a:noFill/>
          <a:ln/>
        </p:spPr>
        <p:txBody>
          <a:bodyPr wrap="square" lIns="0" tIns="0" rIns="0" bIns="0" rtlCol="0" anchor="ctr"/>
          <a:lstStyle/>
          <a:p>
            <a:pPr algn="l" indent="0" marL="0">
              <a:buNone/>
            </a:pPr>
            <a:r>
              <a:rPr lang="en-US" sz="3000" b="1" dirty="0">
                <a:solidFill>
                  <a:srgbClr val="2F3C7E"/>
                </a:solidFill>
                <a:latin typeface="Cambria" pitchFamily="34" charset="0"/>
                <a:ea typeface="Cambria" pitchFamily="34" charset="-122"/>
                <a:cs typeface="Cambria" pitchFamily="34" charset="-120"/>
              </a:rPr>
              <a:t>Top 5 Products by Rating</a:t>
            </a:r>
            <a:endParaRPr lang="en-US" sz="3000" dirty="0"/>
          </a:p>
        </p:txBody>
      </p:sp>
      <p:sp>
        <p:nvSpPr>
          <p:cNvPr id="3" name="Shape 1"/>
          <p:cNvSpPr/>
          <p:nvPr/>
        </p:nvSpPr>
        <p:spPr>
          <a:xfrm>
            <a:off x="548640" y="1143000"/>
            <a:ext cx="1280160" cy="54864"/>
          </a:xfrm>
          <a:prstGeom prst="rect">
            <a:avLst/>
          </a:prstGeom>
          <a:solidFill>
            <a:srgbClr val="F96167"/>
          </a:solidFill>
          <a:ln/>
        </p:spPr>
      </p:sp>
      <p:sp>
        <p:nvSpPr>
          <p:cNvPr id="4" name="Text 2"/>
          <p:cNvSpPr/>
          <p:nvPr/>
        </p:nvSpPr>
        <p:spPr>
          <a:xfrm>
            <a:off x="548640" y="1325880"/>
            <a:ext cx="8229600" cy="457200"/>
          </a:xfrm>
          <a:prstGeom prst="rect">
            <a:avLst/>
          </a:prstGeom>
          <a:noFill/>
          <a:ln/>
        </p:spPr>
        <p:txBody>
          <a:bodyPr wrap="square" lIns="0" tIns="0" rIns="0" bIns="0" rtlCol="0" anchor="ctr"/>
          <a:lstStyle/>
          <a:p>
            <a:pPr indent="0" marL="0">
              <a:buNone/>
            </a:pPr>
            <a:r>
              <a:rPr lang="en-US" sz="1400" dirty="0">
                <a:solidFill>
                  <a:srgbClr val="6B6E85"/>
                </a:solidFill>
                <a:latin typeface="Calibri" pitchFamily="34" charset="0"/>
                <a:ea typeface="Calibri" pitchFamily="34" charset="-122"/>
                <a:cs typeface="Calibri" pitchFamily="34" charset="-120"/>
              </a:rPr>
              <a:t>Accessories and footwear items lead average customer satisfaction scores.</a:t>
            </a:r>
            <a:endParaRPr lang="en-US" sz="1400" dirty="0"/>
          </a:p>
        </p:txBody>
      </p:sp>
      <p:graphicFrame>
        <p:nvGraphicFramePr>
          <p:cNvPr id="5" name="Chart 0" descr=""/>
          <p:cNvGraphicFramePr/>
          <p:nvPr/>
        </p:nvGraphicFramePr>
        <p:xfrm>
          <a:off x="548640" y="1965960"/>
          <a:ext cx="11064240" cy="429768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457200" y="6519672"/>
            <a:ext cx="7315200" cy="274320"/>
          </a:xfrm>
          <a:prstGeom prst="rect">
            <a:avLst/>
          </a:prstGeom>
          <a:noFill/>
          <a:ln/>
        </p:spPr>
        <p:txBody>
          <a:bodyPr wrap="square" lIns="0" tIns="0" rIns="0" bIns="0" rtlCol="0" anchor="ctr"/>
          <a:lstStyle/>
          <a:p>
            <a:pPr indent="0" marL="0">
              <a:buNone/>
            </a:pPr>
            <a:r>
              <a:rPr lang="en-US" sz="900" i="1" dirty="0">
                <a:solidFill>
                  <a:srgbClr val="6B6E85"/>
                </a:solidFill>
                <a:latin typeface="Calibri" pitchFamily="34" charset="0"/>
                <a:ea typeface="Calibri" pitchFamily="34" charset="-122"/>
                <a:cs typeface="Calibri" pitchFamily="34" charset="-120"/>
              </a:rPr>
              <a:t>Customer Shopping Behavior Analysis</a:t>
            </a:r>
            <a:endParaRPr lang="en-US" sz="900" dirty="0"/>
          </a:p>
        </p:txBody>
      </p:sp>
      <p:sp>
        <p:nvSpPr>
          <p:cNvPr id="7" name="Text 4"/>
          <p:cNvSpPr/>
          <p:nvPr/>
        </p:nvSpPr>
        <p:spPr>
          <a:xfrm>
            <a:off x="11274552" y="6519672"/>
            <a:ext cx="457200" cy="274320"/>
          </a:xfrm>
          <a:prstGeom prst="rect">
            <a:avLst/>
          </a:prstGeom>
          <a:noFill/>
          <a:ln/>
        </p:spPr>
        <p:txBody>
          <a:bodyPr wrap="square" lIns="0" tIns="0" rIns="0" bIns="0" rtlCol="0" anchor="ctr"/>
          <a:lstStyle/>
          <a:p>
            <a:pPr algn="r" indent="0" marL="0">
              <a:buNone/>
            </a:pPr>
            <a:r>
              <a:rPr lang="en-US" sz="900" dirty="0">
                <a:solidFill>
                  <a:srgbClr val="6B6E85"/>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640080"/>
          </a:xfrm>
          <a:prstGeom prst="rect">
            <a:avLst/>
          </a:prstGeom>
          <a:noFill/>
          <a:ln/>
        </p:spPr>
        <p:txBody>
          <a:bodyPr wrap="square" lIns="0" tIns="0" rIns="0" bIns="0" rtlCol="0" anchor="ctr"/>
          <a:lstStyle/>
          <a:p>
            <a:pPr algn="l" indent="0" marL="0">
              <a:buNone/>
            </a:pPr>
            <a:r>
              <a:rPr lang="en-US" sz="3000" b="1" dirty="0">
                <a:solidFill>
                  <a:srgbClr val="2F3C7E"/>
                </a:solidFill>
                <a:latin typeface="Cambria" pitchFamily="34" charset="0"/>
                <a:ea typeface="Cambria" pitchFamily="34" charset="-122"/>
                <a:cs typeface="Cambria" pitchFamily="34" charset="-120"/>
              </a:rPr>
              <a:t>Shipping &amp; Subscription Patterns</a:t>
            </a:r>
            <a:endParaRPr lang="en-US" sz="3000" dirty="0"/>
          </a:p>
        </p:txBody>
      </p:sp>
      <p:sp>
        <p:nvSpPr>
          <p:cNvPr id="3" name="Shape 1"/>
          <p:cNvSpPr/>
          <p:nvPr/>
        </p:nvSpPr>
        <p:spPr>
          <a:xfrm>
            <a:off x="548640" y="1143000"/>
            <a:ext cx="1280160" cy="54864"/>
          </a:xfrm>
          <a:prstGeom prst="rect">
            <a:avLst/>
          </a:prstGeom>
          <a:solidFill>
            <a:srgbClr val="F96167"/>
          </a:solidFill>
          <a:ln/>
        </p:spPr>
      </p:sp>
      <p:sp>
        <p:nvSpPr>
          <p:cNvPr id="4" name="Shape 2"/>
          <p:cNvSpPr/>
          <p:nvPr/>
        </p:nvSpPr>
        <p:spPr>
          <a:xfrm>
            <a:off x="548640" y="1554480"/>
            <a:ext cx="5394960" cy="4663440"/>
          </a:xfrm>
          <a:prstGeom prst="roundRect">
            <a:avLst>
              <a:gd name="adj" fmla="val 2353"/>
            </a:avLst>
          </a:prstGeom>
          <a:solidFill>
            <a:srgbClr val="F7F7FA"/>
          </a:solidFill>
          <a:ln/>
          <a:effectLst>
            <a:outerShdw sx="100000" sy="100000" kx="0" ky="0" algn="bl" rotWithShape="0" blurRad="76200" dist="25400" dir="5400000">
              <a:srgbClr val="000000">
                <a:alpha val="10000"/>
              </a:srgbClr>
            </a:outerShdw>
          </a:effectLst>
        </p:spPr>
      </p:sp>
      <p:sp>
        <p:nvSpPr>
          <p:cNvPr id="5" name="Text 3"/>
          <p:cNvSpPr/>
          <p:nvPr/>
        </p:nvSpPr>
        <p:spPr>
          <a:xfrm>
            <a:off x="868680" y="1783080"/>
            <a:ext cx="4754880" cy="457200"/>
          </a:xfrm>
          <a:prstGeom prst="rect">
            <a:avLst/>
          </a:prstGeom>
          <a:noFill/>
          <a:ln/>
        </p:spPr>
        <p:txBody>
          <a:bodyPr wrap="square" lIns="0" tIns="0" rIns="0" bIns="0" rtlCol="0" anchor="ctr"/>
          <a:lstStyle/>
          <a:p>
            <a:pPr indent="0" marL="0">
              <a:buNone/>
            </a:pPr>
            <a:r>
              <a:rPr lang="en-US" sz="1700" b="1" dirty="0">
                <a:solidFill>
                  <a:srgbClr val="2F3C7E"/>
                </a:solidFill>
                <a:latin typeface="Cambria" pitchFamily="34" charset="0"/>
                <a:ea typeface="Cambria" pitchFamily="34" charset="-122"/>
                <a:cs typeface="Cambria" pitchFamily="34" charset="-120"/>
              </a:rPr>
              <a:t>Shipping Type Comparison</a:t>
            </a:r>
            <a:endParaRPr lang="en-US" sz="1700" dirty="0"/>
          </a:p>
        </p:txBody>
      </p:sp>
      <p:sp>
        <p:nvSpPr>
          <p:cNvPr id="6" name="Text 4"/>
          <p:cNvSpPr/>
          <p:nvPr/>
        </p:nvSpPr>
        <p:spPr>
          <a:xfrm>
            <a:off x="868680" y="2194560"/>
            <a:ext cx="4754880" cy="365760"/>
          </a:xfrm>
          <a:prstGeom prst="rect">
            <a:avLst/>
          </a:prstGeom>
          <a:noFill/>
          <a:ln/>
        </p:spPr>
        <p:txBody>
          <a:bodyPr wrap="square" lIns="0" tIns="0" rIns="0" bIns="0" rtlCol="0" anchor="ctr"/>
          <a:lstStyle/>
          <a:p>
            <a:pPr indent="0" marL="0">
              <a:buNone/>
            </a:pPr>
            <a:r>
              <a:rPr lang="en-US" sz="1150" dirty="0">
                <a:solidFill>
                  <a:srgbClr val="6B6E85"/>
                </a:solidFill>
                <a:latin typeface="Calibri" pitchFamily="34" charset="0"/>
                <a:ea typeface="Calibri" pitchFamily="34" charset="-122"/>
                <a:cs typeface="Calibri" pitchFamily="34" charset="-120"/>
              </a:rPr>
              <a:t>Average purchase amount by shipping method</a:t>
            </a:r>
            <a:endParaRPr lang="en-US" sz="1150" dirty="0"/>
          </a:p>
        </p:txBody>
      </p:sp>
      <p:graphicFrame>
        <p:nvGraphicFramePr>
          <p:cNvPr id="7" name="Chart 0" descr=""/>
          <p:cNvGraphicFramePr/>
          <p:nvPr/>
        </p:nvGraphicFramePr>
        <p:xfrm>
          <a:off x="777240" y="2606040"/>
          <a:ext cx="4937760" cy="338328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6217920" y="1554480"/>
            <a:ext cx="5422392" cy="4663440"/>
          </a:xfrm>
          <a:prstGeom prst="roundRect">
            <a:avLst>
              <a:gd name="adj" fmla="val 2353"/>
            </a:avLst>
          </a:prstGeom>
          <a:solidFill>
            <a:srgbClr val="2F3C7E"/>
          </a:solidFill>
          <a:ln/>
        </p:spPr>
      </p:sp>
      <p:sp>
        <p:nvSpPr>
          <p:cNvPr id="9" name="Text 6"/>
          <p:cNvSpPr/>
          <p:nvPr/>
        </p:nvSpPr>
        <p:spPr>
          <a:xfrm>
            <a:off x="6537960" y="1783080"/>
            <a:ext cx="4846320" cy="45720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Subscribers vs. Non-Subscribers</a:t>
            </a:r>
            <a:endParaRPr lang="en-US" sz="1700" dirty="0"/>
          </a:p>
        </p:txBody>
      </p:sp>
      <p:sp>
        <p:nvSpPr>
          <p:cNvPr id="10" name="Text 7"/>
          <p:cNvSpPr/>
          <p:nvPr/>
        </p:nvSpPr>
        <p:spPr>
          <a:xfrm>
            <a:off x="6537960" y="2194560"/>
            <a:ext cx="4846320" cy="365760"/>
          </a:xfrm>
          <a:prstGeom prst="rect">
            <a:avLst/>
          </a:prstGeom>
          <a:noFill/>
          <a:ln/>
        </p:spPr>
        <p:txBody>
          <a:bodyPr wrap="square" lIns="0" tIns="0" rIns="0" bIns="0" rtlCol="0" anchor="ctr"/>
          <a:lstStyle/>
          <a:p>
            <a:pPr indent="0" marL="0">
              <a:buNone/>
            </a:pPr>
            <a:r>
              <a:rPr lang="en-US" sz="1150" dirty="0">
                <a:solidFill>
                  <a:srgbClr val="CBD3F2"/>
                </a:solidFill>
                <a:latin typeface="Calibri" pitchFamily="34" charset="0"/>
                <a:ea typeface="Calibri" pitchFamily="34" charset="-122"/>
                <a:cs typeface="Calibri" pitchFamily="34" charset="-120"/>
              </a:rPr>
              <a:t>1,053 subscribers  •  2,847 non-subscribers</a:t>
            </a:r>
            <a:endParaRPr lang="en-US" sz="1150" dirty="0"/>
          </a:p>
        </p:txBody>
      </p:sp>
      <p:sp>
        <p:nvSpPr>
          <p:cNvPr id="11" name="Text 8"/>
          <p:cNvSpPr/>
          <p:nvPr/>
        </p:nvSpPr>
        <p:spPr>
          <a:xfrm>
            <a:off x="6537960" y="2743200"/>
            <a:ext cx="1737360" cy="502920"/>
          </a:xfrm>
          <a:prstGeom prst="rect">
            <a:avLst/>
          </a:prstGeom>
          <a:noFill/>
          <a:ln/>
        </p:spPr>
        <p:txBody>
          <a:bodyPr wrap="square" lIns="0" tIns="0" rIns="0" bIns="0" rtlCol="0" anchor="ctr"/>
          <a:lstStyle/>
          <a:p>
            <a:pPr indent="0" marL="0">
              <a:buNone/>
            </a:pPr>
            <a:endParaRPr lang="en-US" sz="1100" dirty="0"/>
          </a:p>
        </p:txBody>
      </p:sp>
      <p:sp>
        <p:nvSpPr>
          <p:cNvPr id="12" name="Text 9"/>
          <p:cNvSpPr/>
          <p:nvPr/>
        </p:nvSpPr>
        <p:spPr>
          <a:xfrm>
            <a:off x="8229600" y="2743200"/>
            <a:ext cx="1645920" cy="502920"/>
          </a:xfrm>
          <a:prstGeom prst="rect">
            <a:avLst/>
          </a:prstGeom>
          <a:noFill/>
          <a:ln/>
        </p:spPr>
        <p:txBody>
          <a:bodyPr wrap="square" lIns="0" tIns="0" rIns="0" bIns="0" rtlCol="0" anchor="ctr"/>
          <a:lstStyle/>
          <a:p>
            <a:pPr algn="ctr" indent="0" marL="0">
              <a:buNone/>
            </a:pPr>
            <a:r>
              <a:rPr lang="en-US" sz="1100" b="1" dirty="0">
                <a:solidFill>
                  <a:srgbClr val="9AA4D6"/>
                </a:solidFill>
                <a:latin typeface="Calibri" pitchFamily="34" charset="0"/>
                <a:ea typeface="Calibri" pitchFamily="34" charset="-122"/>
                <a:cs typeface="Calibri" pitchFamily="34" charset="-120"/>
              </a:rPr>
              <a:t>Subscribers</a:t>
            </a:r>
            <a:endParaRPr lang="en-US" sz="1100" dirty="0"/>
          </a:p>
        </p:txBody>
      </p:sp>
      <p:sp>
        <p:nvSpPr>
          <p:cNvPr id="13" name="Text 10"/>
          <p:cNvSpPr/>
          <p:nvPr/>
        </p:nvSpPr>
        <p:spPr>
          <a:xfrm>
            <a:off x="9875520" y="2743200"/>
            <a:ext cx="1691640" cy="502920"/>
          </a:xfrm>
          <a:prstGeom prst="rect">
            <a:avLst/>
          </a:prstGeom>
          <a:noFill/>
          <a:ln/>
        </p:spPr>
        <p:txBody>
          <a:bodyPr wrap="square" lIns="0" tIns="0" rIns="0" bIns="0" rtlCol="0" anchor="ctr"/>
          <a:lstStyle/>
          <a:p>
            <a:pPr algn="ctr" indent="0" marL="0">
              <a:buNone/>
            </a:pPr>
            <a:r>
              <a:rPr lang="en-US" sz="1100" b="1" dirty="0">
                <a:solidFill>
                  <a:srgbClr val="9AA4D6"/>
                </a:solidFill>
                <a:latin typeface="Calibri" pitchFamily="34" charset="0"/>
                <a:ea typeface="Calibri" pitchFamily="34" charset="-122"/>
                <a:cs typeface="Calibri" pitchFamily="34" charset="-120"/>
              </a:rPr>
              <a:t>Non-Subscribers</a:t>
            </a:r>
            <a:endParaRPr lang="en-US" sz="1100" dirty="0"/>
          </a:p>
        </p:txBody>
      </p:sp>
      <p:sp>
        <p:nvSpPr>
          <p:cNvPr id="14" name="Text 11"/>
          <p:cNvSpPr/>
          <p:nvPr/>
        </p:nvSpPr>
        <p:spPr>
          <a:xfrm>
            <a:off x="6537960" y="3310128"/>
            <a:ext cx="1737360" cy="502920"/>
          </a:xfrm>
          <a:prstGeom prst="rect">
            <a:avLst/>
          </a:prstGeom>
          <a:noFill/>
          <a:ln/>
        </p:spPr>
        <p:txBody>
          <a:bodyPr wrap="square" lIns="0" tIns="0" rIns="0" bIns="0" rtlCol="0" anchor="ctr"/>
          <a:lstStyle/>
          <a:p>
            <a:pPr indent="0" marL="0">
              <a:buNone/>
            </a:pPr>
            <a:r>
              <a:rPr lang="en-US" sz="1250" b="1" dirty="0">
                <a:solidFill>
                  <a:srgbClr val="CBD3F2"/>
                </a:solidFill>
                <a:latin typeface="Calibri" pitchFamily="34" charset="0"/>
                <a:ea typeface="Calibri" pitchFamily="34" charset="-122"/>
                <a:cs typeface="Calibri" pitchFamily="34" charset="-120"/>
              </a:rPr>
              <a:t>Avg. Spend</a:t>
            </a:r>
            <a:endParaRPr lang="en-US" sz="1250" dirty="0"/>
          </a:p>
        </p:txBody>
      </p:sp>
      <p:sp>
        <p:nvSpPr>
          <p:cNvPr id="15" name="Text 12"/>
          <p:cNvSpPr/>
          <p:nvPr/>
        </p:nvSpPr>
        <p:spPr>
          <a:xfrm>
            <a:off x="8229600" y="3310128"/>
            <a:ext cx="1645920" cy="502920"/>
          </a:xfrm>
          <a:prstGeom prst="rect">
            <a:avLst/>
          </a:prstGeom>
          <a:noFill/>
          <a:ln/>
        </p:spPr>
        <p:txBody>
          <a:bodyPr wrap="square" lIns="0" tIns="0" rIns="0" bIns="0" rtlCol="0" anchor="ctr"/>
          <a:lstStyle/>
          <a:p>
            <a:pPr algn="ctr" indent="0" marL="0">
              <a:buNone/>
            </a:pPr>
            <a:r>
              <a:rPr lang="en-US" sz="1350" b="1" dirty="0">
                <a:solidFill>
                  <a:srgbClr val="F9E795"/>
                </a:solidFill>
                <a:latin typeface="Calibri" pitchFamily="34" charset="0"/>
                <a:ea typeface="Calibri" pitchFamily="34" charset="-122"/>
                <a:cs typeface="Calibri" pitchFamily="34" charset="-120"/>
              </a:rPr>
              <a:t>$59.49</a:t>
            </a:r>
            <a:endParaRPr lang="en-US" sz="1350" dirty="0"/>
          </a:p>
        </p:txBody>
      </p:sp>
      <p:sp>
        <p:nvSpPr>
          <p:cNvPr id="16" name="Text 13"/>
          <p:cNvSpPr/>
          <p:nvPr/>
        </p:nvSpPr>
        <p:spPr>
          <a:xfrm>
            <a:off x="9875520" y="3310128"/>
            <a:ext cx="1691640" cy="50292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$59.87</a:t>
            </a:r>
            <a:endParaRPr lang="en-US" sz="1350" dirty="0"/>
          </a:p>
        </p:txBody>
      </p:sp>
      <p:sp>
        <p:nvSpPr>
          <p:cNvPr id="17" name="Shape 14"/>
          <p:cNvSpPr/>
          <p:nvPr/>
        </p:nvSpPr>
        <p:spPr>
          <a:xfrm>
            <a:off x="6537960" y="3310128"/>
            <a:ext cx="5029200" cy="0"/>
          </a:xfrm>
          <a:prstGeom prst="line">
            <a:avLst/>
          </a:prstGeom>
          <a:noFill/>
          <a:ln w="9525">
            <a:solidFill>
              <a:srgbClr val="44508C"/>
            </a:solidFill>
            <a:prstDash val="solid"/>
          </a:ln>
        </p:spPr>
      </p:sp>
      <p:sp>
        <p:nvSpPr>
          <p:cNvPr id="18" name="Text 15"/>
          <p:cNvSpPr/>
          <p:nvPr/>
        </p:nvSpPr>
        <p:spPr>
          <a:xfrm>
            <a:off x="6537960" y="3877056"/>
            <a:ext cx="1737360" cy="502920"/>
          </a:xfrm>
          <a:prstGeom prst="rect">
            <a:avLst/>
          </a:prstGeom>
          <a:noFill/>
          <a:ln/>
        </p:spPr>
        <p:txBody>
          <a:bodyPr wrap="square" lIns="0" tIns="0" rIns="0" bIns="0" rtlCol="0" anchor="ctr"/>
          <a:lstStyle/>
          <a:p>
            <a:pPr indent="0" marL="0">
              <a:buNone/>
            </a:pPr>
            <a:r>
              <a:rPr lang="en-US" sz="1250" b="1" dirty="0">
                <a:solidFill>
                  <a:srgbClr val="CBD3F2"/>
                </a:solidFill>
                <a:latin typeface="Calibri" pitchFamily="34" charset="0"/>
                <a:ea typeface="Calibri" pitchFamily="34" charset="-122"/>
                <a:cs typeface="Calibri" pitchFamily="34" charset="-120"/>
              </a:rPr>
              <a:t>Total Revenue</a:t>
            </a:r>
            <a:endParaRPr lang="en-US" sz="1250" dirty="0"/>
          </a:p>
        </p:txBody>
      </p:sp>
      <p:sp>
        <p:nvSpPr>
          <p:cNvPr id="19" name="Text 16"/>
          <p:cNvSpPr/>
          <p:nvPr/>
        </p:nvSpPr>
        <p:spPr>
          <a:xfrm>
            <a:off x="8229600" y="3877056"/>
            <a:ext cx="1645920" cy="502920"/>
          </a:xfrm>
          <a:prstGeom prst="rect">
            <a:avLst/>
          </a:prstGeom>
          <a:noFill/>
          <a:ln/>
        </p:spPr>
        <p:txBody>
          <a:bodyPr wrap="square" lIns="0" tIns="0" rIns="0" bIns="0" rtlCol="0" anchor="ctr"/>
          <a:lstStyle/>
          <a:p>
            <a:pPr algn="ctr" indent="0" marL="0">
              <a:buNone/>
            </a:pPr>
            <a:r>
              <a:rPr lang="en-US" sz="1350" b="1" dirty="0">
                <a:solidFill>
                  <a:srgbClr val="F9E795"/>
                </a:solidFill>
                <a:latin typeface="Calibri" pitchFamily="34" charset="0"/>
                <a:ea typeface="Calibri" pitchFamily="34" charset="-122"/>
                <a:cs typeface="Calibri" pitchFamily="34" charset="-120"/>
              </a:rPr>
              <a:t>$62,645</a:t>
            </a:r>
            <a:endParaRPr lang="en-US" sz="1350" dirty="0"/>
          </a:p>
        </p:txBody>
      </p:sp>
      <p:sp>
        <p:nvSpPr>
          <p:cNvPr id="20" name="Text 17"/>
          <p:cNvSpPr/>
          <p:nvPr/>
        </p:nvSpPr>
        <p:spPr>
          <a:xfrm>
            <a:off x="9875520" y="3877056"/>
            <a:ext cx="1691640" cy="50292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$170,436</a:t>
            </a:r>
            <a:endParaRPr lang="en-US" sz="1350" dirty="0"/>
          </a:p>
        </p:txBody>
      </p:sp>
      <p:sp>
        <p:nvSpPr>
          <p:cNvPr id="21" name="Shape 18"/>
          <p:cNvSpPr/>
          <p:nvPr/>
        </p:nvSpPr>
        <p:spPr>
          <a:xfrm>
            <a:off x="6537960" y="3877056"/>
            <a:ext cx="5029200" cy="0"/>
          </a:xfrm>
          <a:prstGeom prst="line">
            <a:avLst/>
          </a:prstGeom>
          <a:noFill/>
          <a:ln w="9525">
            <a:solidFill>
              <a:srgbClr val="44508C"/>
            </a:solidFill>
            <a:prstDash val="solid"/>
          </a:ln>
        </p:spPr>
      </p:sp>
      <p:sp>
        <p:nvSpPr>
          <p:cNvPr id="22" name="Text 19"/>
          <p:cNvSpPr/>
          <p:nvPr/>
        </p:nvSpPr>
        <p:spPr>
          <a:xfrm>
            <a:off x="6537960" y="4443984"/>
            <a:ext cx="1737360" cy="502920"/>
          </a:xfrm>
          <a:prstGeom prst="rect">
            <a:avLst/>
          </a:prstGeom>
          <a:noFill/>
          <a:ln/>
        </p:spPr>
        <p:txBody>
          <a:bodyPr wrap="square" lIns="0" tIns="0" rIns="0" bIns="0" rtlCol="0" anchor="ctr"/>
          <a:lstStyle/>
          <a:p>
            <a:pPr indent="0" marL="0">
              <a:buNone/>
            </a:pPr>
            <a:r>
              <a:rPr lang="en-US" sz="1250" b="1" dirty="0">
                <a:solidFill>
                  <a:srgbClr val="CBD3F2"/>
                </a:solidFill>
                <a:latin typeface="Calibri" pitchFamily="34" charset="0"/>
                <a:ea typeface="Calibri" pitchFamily="34" charset="-122"/>
                <a:cs typeface="Calibri" pitchFamily="34" charset="-120"/>
              </a:rPr>
              <a:t>Customers</a:t>
            </a:r>
            <a:endParaRPr lang="en-US" sz="1250" dirty="0"/>
          </a:p>
        </p:txBody>
      </p:sp>
      <p:sp>
        <p:nvSpPr>
          <p:cNvPr id="23" name="Text 20"/>
          <p:cNvSpPr/>
          <p:nvPr/>
        </p:nvSpPr>
        <p:spPr>
          <a:xfrm>
            <a:off x="8229600" y="4443984"/>
            <a:ext cx="1645920" cy="502920"/>
          </a:xfrm>
          <a:prstGeom prst="rect">
            <a:avLst/>
          </a:prstGeom>
          <a:noFill/>
          <a:ln/>
        </p:spPr>
        <p:txBody>
          <a:bodyPr wrap="square" lIns="0" tIns="0" rIns="0" bIns="0" rtlCol="0" anchor="ctr"/>
          <a:lstStyle/>
          <a:p>
            <a:pPr algn="ctr" indent="0" marL="0">
              <a:buNone/>
            </a:pPr>
            <a:r>
              <a:rPr lang="en-US" sz="1350" b="1" dirty="0">
                <a:solidFill>
                  <a:srgbClr val="F9E795"/>
                </a:solidFill>
                <a:latin typeface="Calibri" pitchFamily="34" charset="0"/>
                <a:ea typeface="Calibri" pitchFamily="34" charset="-122"/>
                <a:cs typeface="Calibri" pitchFamily="34" charset="-120"/>
              </a:rPr>
              <a:t>1,053</a:t>
            </a:r>
            <a:endParaRPr lang="en-US" sz="1350" dirty="0"/>
          </a:p>
        </p:txBody>
      </p:sp>
      <p:sp>
        <p:nvSpPr>
          <p:cNvPr id="24" name="Text 21"/>
          <p:cNvSpPr/>
          <p:nvPr/>
        </p:nvSpPr>
        <p:spPr>
          <a:xfrm>
            <a:off x="9875520" y="4443984"/>
            <a:ext cx="1691640" cy="50292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2,847</a:t>
            </a:r>
            <a:endParaRPr lang="en-US" sz="1350" dirty="0"/>
          </a:p>
        </p:txBody>
      </p:sp>
      <p:sp>
        <p:nvSpPr>
          <p:cNvPr id="25" name="Shape 22"/>
          <p:cNvSpPr/>
          <p:nvPr/>
        </p:nvSpPr>
        <p:spPr>
          <a:xfrm>
            <a:off x="6537960" y="4443984"/>
            <a:ext cx="5029200" cy="0"/>
          </a:xfrm>
          <a:prstGeom prst="line">
            <a:avLst/>
          </a:prstGeom>
          <a:noFill/>
          <a:ln w="9525">
            <a:solidFill>
              <a:srgbClr val="44508C"/>
            </a:solidFill>
            <a:prstDash val="solid"/>
          </a:ln>
        </p:spPr>
      </p:sp>
      <p:sp>
        <p:nvSpPr>
          <p:cNvPr id="26" name="Text 23"/>
          <p:cNvSpPr/>
          <p:nvPr/>
        </p:nvSpPr>
        <p:spPr>
          <a:xfrm>
            <a:off x="6537960" y="5074920"/>
            <a:ext cx="4846320" cy="914400"/>
          </a:xfrm>
          <a:prstGeom prst="rect">
            <a:avLst/>
          </a:prstGeom>
          <a:noFill/>
          <a:ln/>
        </p:spPr>
        <p:txBody>
          <a:bodyPr wrap="square" lIns="0" tIns="0" rIns="0" bIns="0" rtlCol="0" anchor="ctr"/>
          <a:lstStyle/>
          <a:p>
            <a:pPr indent="0" marL="0">
              <a:lnSpc>
                <a:spcPct val="125000"/>
              </a:lnSpc>
              <a:buNone/>
            </a:pPr>
            <a:r>
              <a:rPr lang="en-US" sz="1150" i="1" dirty="0">
                <a:solidFill>
                  <a:srgbClr val="CBD3F2"/>
                </a:solidFill>
                <a:latin typeface="Calibri" pitchFamily="34" charset="0"/>
                <a:ea typeface="Calibri" pitchFamily="34" charset="-122"/>
                <a:cs typeface="Calibri" pitchFamily="34" charset="-120"/>
              </a:rPr>
              <a:t>Non-subscribers drive far more total revenue simply by volume — subscription status alone isn't a strong spend predictor.</a:t>
            </a:r>
            <a:endParaRPr lang="en-US" sz="1150" dirty="0"/>
          </a:p>
        </p:txBody>
      </p:sp>
      <p:sp>
        <p:nvSpPr>
          <p:cNvPr id="27" name="Text 24"/>
          <p:cNvSpPr/>
          <p:nvPr/>
        </p:nvSpPr>
        <p:spPr>
          <a:xfrm>
            <a:off x="457200" y="6519672"/>
            <a:ext cx="7315200" cy="274320"/>
          </a:xfrm>
          <a:prstGeom prst="rect">
            <a:avLst/>
          </a:prstGeom>
          <a:noFill/>
          <a:ln/>
        </p:spPr>
        <p:txBody>
          <a:bodyPr wrap="square" lIns="0" tIns="0" rIns="0" bIns="0" rtlCol="0" anchor="ctr"/>
          <a:lstStyle/>
          <a:p>
            <a:pPr indent="0" marL="0">
              <a:buNone/>
            </a:pPr>
            <a:r>
              <a:rPr lang="en-US" sz="900" i="1" dirty="0">
                <a:solidFill>
                  <a:srgbClr val="6B6E85"/>
                </a:solidFill>
                <a:latin typeface="Calibri" pitchFamily="34" charset="0"/>
                <a:ea typeface="Calibri" pitchFamily="34" charset="-122"/>
                <a:cs typeface="Calibri" pitchFamily="34" charset="-120"/>
              </a:rPr>
              <a:t>Customer Shopping Behavior Analysis</a:t>
            </a:r>
            <a:endParaRPr lang="en-US" sz="900" dirty="0"/>
          </a:p>
        </p:txBody>
      </p:sp>
      <p:sp>
        <p:nvSpPr>
          <p:cNvPr id="28" name="Text 25"/>
          <p:cNvSpPr/>
          <p:nvPr/>
        </p:nvSpPr>
        <p:spPr>
          <a:xfrm>
            <a:off x="11274552" y="6519672"/>
            <a:ext cx="457200" cy="274320"/>
          </a:xfrm>
          <a:prstGeom prst="rect">
            <a:avLst/>
          </a:prstGeom>
          <a:noFill/>
          <a:ln/>
        </p:spPr>
        <p:txBody>
          <a:bodyPr wrap="square" lIns="0" tIns="0" rIns="0" bIns="0" rtlCol="0" anchor="ctr"/>
          <a:lstStyle/>
          <a:p>
            <a:pPr algn="r" indent="0" marL="0">
              <a:buNone/>
            </a:pPr>
            <a:r>
              <a:rPr lang="en-US" sz="900" dirty="0">
                <a:solidFill>
                  <a:srgbClr val="6B6E85"/>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9144000" cy="640080"/>
          </a:xfrm>
          <a:prstGeom prst="rect">
            <a:avLst/>
          </a:prstGeom>
          <a:noFill/>
          <a:ln/>
        </p:spPr>
        <p:txBody>
          <a:bodyPr wrap="square" lIns="0" tIns="0" rIns="0" bIns="0" rtlCol="0" anchor="ctr"/>
          <a:lstStyle/>
          <a:p>
            <a:pPr algn="l" indent="0" marL="0">
              <a:buNone/>
            </a:pPr>
            <a:r>
              <a:rPr lang="en-US" sz="3000" b="1" dirty="0">
                <a:solidFill>
                  <a:srgbClr val="2F3C7E"/>
                </a:solidFill>
                <a:latin typeface="Cambria" pitchFamily="34" charset="0"/>
                <a:ea typeface="Cambria" pitchFamily="34" charset="-122"/>
                <a:cs typeface="Cambria" pitchFamily="34" charset="-120"/>
              </a:rPr>
              <a:t>Discount-Dependent Products</a:t>
            </a:r>
            <a:endParaRPr lang="en-US" sz="3000" dirty="0"/>
          </a:p>
        </p:txBody>
      </p:sp>
      <p:sp>
        <p:nvSpPr>
          <p:cNvPr id="3" name="Shape 1"/>
          <p:cNvSpPr/>
          <p:nvPr/>
        </p:nvSpPr>
        <p:spPr>
          <a:xfrm>
            <a:off x="548640" y="1143000"/>
            <a:ext cx="1280160" cy="54864"/>
          </a:xfrm>
          <a:prstGeom prst="rect">
            <a:avLst/>
          </a:prstGeom>
          <a:solidFill>
            <a:srgbClr val="F96167"/>
          </a:solidFill>
          <a:ln/>
        </p:spPr>
      </p:sp>
      <p:sp>
        <p:nvSpPr>
          <p:cNvPr id="4" name="Text 2"/>
          <p:cNvSpPr/>
          <p:nvPr/>
        </p:nvSpPr>
        <p:spPr>
          <a:xfrm>
            <a:off x="548640" y="1325880"/>
            <a:ext cx="8686800" cy="457200"/>
          </a:xfrm>
          <a:prstGeom prst="rect">
            <a:avLst/>
          </a:prstGeom>
          <a:noFill/>
          <a:ln/>
        </p:spPr>
        <p:txBody>
          <a:bodyPr wrap="square" lIns="0" tIns="0" rIns="0" bIns="0" rtlCol="0" anchor="ctr"/>
          <a:lstStyle/>
          <a:p>
            <a:pPr indent="0" marL="0">
              <a:buNone/>
            </a:pPr>
            <a:r>
              <a:rPr lang="en-US" sz="1400" dirty="0">
                <a:solidFill>
                  <a:srgbClr val="6B6E85"/>
                </a:solidFill>
                <a:latin typeface="Calibri" pitchFamily="34" charset="0"/>
                <a:ea typeface="Calibri" pitchFamily="34" charset="-122"/>
                <a:cs typeface="Calibri" pitchFamily="34" charset="-120"/>
              </a:rPr>
              <a:t>Nearly half of all purchases for these five items involved a discount — a signal to review margins.</a:t>
            </a:r>
            <a:endParaRPr lang="en-US" sz="1400" dirty="0"/>
          </a:p>
        </p:txBody>
      </p:sp>
      <p:graphicFrame>
        <p:nvGraphicFramePr>
          <p:cNvPr id="5" name="Chart 0" descr=""/>
          <p:cNvGraphicFramePr/>
          <p:nvPr/>
        </p:nvGraphicFramePr>
        <p:xfrm>
          <a:off x="548640" y="1965960"/>
          <a:ext cx="11064240" cy="429768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457200" y="6519672"/>
            <a:ext cx="7315200" cy="274320"/>
          </a:xfrm>
          <a:prstGeom prst="rect">
            <a:avLst/>
          </a:prstGeom>
          <a:noFill/>
          <a:ln/>
        </p:spPr>
        <p:txBody>
          <a:bodyPr wrap="square" lIns="0" tIns="0" rIns="0" bIns="0" rtlCol="0" anchor="ctr"/>
          <a:lstStyle/>
          <a:p>
            <a:pPr indent="0" marL="0">
              <a:buNone/>
            </a:pPr>
            <a:r>
              <a:rPr lang="en-US" sz="900" i="1" dirty="0">
                <a:solidFill>
                  <a:srgbClr val="6B6E85"/>
                </a:solidFill>
                <a:latin typeface="Calibri" pitchFamily="34" charset="0"/>
                <a:ea typeface="Calibri" pitchFamily="34" charset="-122"/>
                <a:cs typeface="Calibri" pitchFamily="34" charset="-120"/>
              </a:rPr>
              <a:t>Customer Shopping Behavior Analysis</a:t>
            </a:r>
            <a:endParaRPr lang="en-US" sz="900" dirty="0"/>
          </a:p>
        </p:txBody>
      </p:sp>
      <p:sp>
        <p:nvSpPr>
          <p:cNvPr id="7" name="Text 4"/>
          <p:cNvSpPr/>
          <p:nvPr/>
        </p:nvSpPr>
        <p:spPr>
          <a:xfrm>
            <a:off x="11274552" y="6519672"/>
            <a:ext cx="457200" cy="274320"/>
          </a:xfrm>
          <a:prstGeom prst="rect">
            <a:avLst/>
          </a:prstGeom>
          <a:noFill/>
          <a:ln/>
        </p:spPr>
        <p:txBody>
          <a:bodyPr wrap="square" lIns="0" tIns="0" rIns="0" bIns="0" rtlCol="0" anchor="ctr"/>
          <a:lstStyle/>
          <a:p>
            <a:pPr algn="r" indent="0" marL="0">
              <a:buNone/>
            </a:pPr>
            <a:r>
              <a:rPr lang="en-US" sz="900" dirty="0">
                <a:solidFill>
                  <a:srgbClr val="6B6E85"/>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8229600" cy="640080"/>
          </a:xfrm>
          <a:prstGeom prst="rect">
            <a:avLst/>
          </a:prstGeom>
          <a:noFill/>
          <a:ln/>
        </p:spPr>
        <p:txBody>
          <a:bodyPr wrap="square" lIns="0" tIns="0" rIns="0" bIns="0" rtlCol="0" anchor="ctr"/>
          <a:lstStyle/>
          <a:p>
            <a:pPr algn="l" indent="0" marL="0">
              <a:buNone/>
            </a:pPr>
            <a:r>
              <a:rPr lang="en-US" sz="3000" b="1" dirty="0">
                <a:solidFill>
                  <a:srgbClr val="2F3C7E"/>
                </a:solidFill>
                <a:latin typeface="Cambria" pitchFamily="34" charset="0"/>
                <a:ea typeface="Cambria" pitchFamily="34" charset="-122"/>
                <a:cs typeface="Cambria" pitchFamily="34" charset="-120"/>
              </a:rPr>
              <a:t>Customer Segmentation</a:t>
            </a:r>
            <a:endParaRPr lang="en-US" sz="3000" dirty="0"/>
          </a:p>
        </p:txBody>
      </p:sp>
      <p:sp>
        <p:nvSpPr>
          <p:cNvPr id="3" name="Shape 1"/>
          <p:cNvSpPr/>
          <p:nvPr/>
        </p:nvSpPr>
        <p:spPr>
          <a:xfrm>
            <a:off x="548640" y="1143000"/>
            <a:ext cx="1280160" cy="54864"/>
          </a:xfrm>
          <a:prstGeom prst="rect">
            <a:avLst/>
          </a:prstGeom>
          <a:solidFill>
            <a:srgbClr val="F96167"/>
          </a:solidFill>
          <a:ln/>
        </p:spPr>
      </p:sp>
      <p:sp>
        <p:nvSpPr>
          <p:cNvPr id="4" name="Text 2"/>
          <p:cNvSpPr/>
          <p:nvPr/>
        </p:nvSpPr>
        <p:spPr>
          <a:xfrm>
            <a:off x="548640" y="1325880"/>
            <a:ext cx="6400800" cy="457200"/>
          </a:xfrm>
          <a:prstGeom prst="rect">
            <a:avLst/>
          </a:prstGeom>
          <a:noFill/>
          <a:ln/>
        </p:spPr>
        <p:txBody>
          <a:bodyPr wrap="square" lIns="0" tIns="0" rIns="0" bIns="0" rtlCol="0" anchor="ctr"/>
          <a:lstStyle/>
          <a:p>
            <a:pPr indent="0" marL="0">
              <a:buNone/>
            </a:pPr>
            <a:r>
              <a:rPr lang="en-US" sz="1400" dirty="0">
                <a:solidFill>
                  <a:srgbClr val="6B6E85"/>
                </a:solidFill>
                <a:latin typeface="Calibri" pitchFamily="34" charset="0"/>
                <a:ea typeface="Calibri" pitchFamily="34" charset="-122"/>
                <a:cs typeface="Calibri" pitchFamily="34" charset="-120"/>
              </a:rPr>
              <a:t>Customers classified as New, Returning, or Loyal based on purchase history.</a:t>
            </a:r>
            <a:endParaRPr lang="en-US" sz="1400" dirty="0"/>
          </a:p>
        </p:txBody>
      </p:sp>
      <p:graphicFrame>
        <p:nvGraphicFramePr>
          <p:cNvPr id="5" name="Chart 0" descr=""/>
          <p:cNvGraphicFramePr/>
          <p:nvPr/>
        </p:nvGraphicFramePr>
        <p:xfrm>
          <a:off x="457200" y="1783080"/>
          <a:ext cx="5120640" cy="448056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6492240" y="2103120"/>
            <a:ext cx="5166360" cy="960120"/>
          </a:xfrm>
          <a:prstGeom prst="roundRect">
            <a:avLst>
              <a:gd name="adj" fmla="val 9524"/>
            </a:avLst>
          </a:prstGeom>
          <a:solidFill>
            <a:srgbClr val="F7F7FA"/>
          </a:solidFill>
          <a:ln/>
          <a:effectLst>
            <a:outerShdw sx="100000" sy="100000" kx="0" ky="0" algn="bl" rotWithShape="0" blurRad="76200" dist="25400" dir="5400000">
              <a:srgbClr val="000000">
                <a:alpha val="10000"/>
              </a:srgbClr>
            </a:outerShdw>
          </a:effectLst>
        </p:spPr>
      </p:sp>
      <p:sp>
        <p:nvSpPr>
          <p:cNvPr id="7" name="Shape 4"/>
          <p:cNvSpPr/>
          <p:nvPr/>
        </p:nvSpPr>
        <p:spPr>
          <a:xfrm>
            <a:off x="6492240" y="2103120"/>
            <a:ext cx="109728" cy="960120"/>
          </a:xfrm>
          <a:prstGeom prst="rect">
            <a:avLst/>
          </a:prstGeom>
          <a:solidFill>
            <a:srgbClr val="2F3C7E"/>
          </a:solidFill>
          <a:ln/>
        </p:spPr>
      </p:sp>
      <p:sp>
        <p:nvSpPr>
          <p:cNvPr id="8" name="Text 5"/>
          <p:cNvSpPr/>
          <p:nvPr/>
        </p:nvSpPr>
        <p:spPr>
          <a:xfrm>
            <a:off x="6812280" y="2103120"/>
            <a:ext cx="1828800" cy="960120"/>
          </a:xfrm>
          <a:prstGeom prst="rect">
            <a:avLst/>
          </a:prstGeom>
          <a:noFill/>
          <a:ln/>
        </p:spPr>
        <p:txBody>
          <a:bodyPr wrap="square" lIns="0" tIns="0" rIns="0" bIns="0" rtlCol="0" anchor="ctr"/>
          <a:lstStyle/>
          <a:p>
            <a:pPr indent="0" marL="0">
              <a:buNone/>
            </a:pPr>
            <a:r>
              <a:rPr lang="en-US" sz="2600" b="1" dirty="0">
                <a:solidFill>
                  <a:srgbClr val="2F3C7E"/>
                </a:solidFill>
                <a:latin typeface="Cambria" pitchFamily="34" charset="0"/>
                <a:ea typeface="Cambria" pitchFamily="34" charset="-122"/>
                <a:cs typeface="Cambria" pitchFamily="34" charset="-120"/>
              </a:rPr>
              <a:t>3,116</a:t>
            </a:r>
            <a:endParaRPr lang="en-US" sz="2600" dirty="0"/>
          </a:p>
        </p:txBody>
      </p:sp>
      <p:sp>
        <p:nvSpPr>
          <p:cNvPr id="9" name="Text 6"/>
          <p:cNvSpPr/>
          <p:nvPr/>
        </p:nvSpPr>
        <p:spPr>
          <a:xfrm>
            <a:off x="8595360" y="2103120"/>
            <a:ext cx="2926080" cy="960120"/>
          </a:xfrm>
          <a:prstGeom prst="rect">
            <a:avLst/>
          </a:prstGeom>
          <a:noFill/>
          <a:ln/>
        </p:spPr>
        <p:txBody>
          <a:bodyPr wrap="square" lIns="0" tIns="0" rIns="0" bIns="0" rtlCol="0" anchor="ctr"/>
          <a:lstStyle/>
          <a:p>
            <a:pPr indent="0" marL="0">
              <a:lnSpc>
                <a:spcPct val="115000"/>
              </a:lnSpc>
              <a:buNone/>
            </a:pPr>
            <a:r>
              <a:rPr lang="en-US" sz="1250" dirty="0">
                <a:solidFill>
                  <a:srgbClr val="6B6E85"/>
                </a:solidFill>
                <a:latin typeface="Calibri" pitchFamily="34" charset="0"/>
                <a:ea typeface="Calibri" pitchFamily="34" charset="-122"/>
                <a:cs typeface="Calibri" pitchFamily="34" charset="-120"/>
              </a:rPr>
              <a:t>Loyal customers (79.9%)</a:t>
            </a:r>
            <a:endParaRPr lang="en-US" sz="1250" dirty="0"/>
          </a:p>
        </p:txBody>
      </p:sp>
      <p:sp>
        <p:nvSpPr>
          <p:cNvPr id="10" name="Shape 7"/>
          <p:cNvSpPr/>
          <p:nvPr/>
        </p:nvSpPr>
        <p:spPr>
          <a:xfrm>
            <a:off x="6492240" y="3246120"/>
            <a:ext cx="5166360" cy="960120"/>
          </a:xfrm>
          <a:prstGeom prst="roundRect">
            <a:avLst>
              <a:gd name="adj" fmla="val 9524"/>
            </a:avLst>
          </a:prstGeom>
          <a:solidFill>
            <a:srgbClr val="F7F7FA"/>
          </a:solidFill>
          <a:ln/>
          <a:effectLst>
            <a:outerShdw sx="100000" sy="100000" kx="0" ky="0" algn="bl" rotWithShape="0" blurRad="76200" dist="25400" dir="5400000">
              <a:srgbClr val="000000">
                <a:alpha val="10000"/>
              </a:srgbClr>
            </a:outerShdw>
          </a:effectLst>
        </p:spPr>
      </p:sp>
      <p:sp>
        <p:nvSpPr>
          <p:cNvPr id="11" name="Shape 8"/>
          <p:cNvSpPr/>
          <p:nvPr/>
        </p:nvSpPr>
        <p:spPr>
          <a:xfrm>
            <a:off x="6492240" y="3246120"/>
            <a:ext cx="109728" cy="960120"/>
          </a:xfrm>
          <a:prstGeom prst="rect">
            <a:avLst/>
          </a:prstGeom>
          <a:solidFill>
            <a:srgbClr val="F96167"/>
          </a:solidFill>
          <a:ln/>
        </p:spPr>
      </p:sp>
      <p:sp>
        <p:nvSpPr>
          <p:cNvPr id="12" name="Text 9"/>
          <p:cNvSpPr/>
          <p:nvPr/>
        </p:nvSpPr>
        <p:spPr>
          <a:xfrm>
            <a:off x="6812280" y="3246120"/>
            <a:ext cx="1828800" cy="960120"/>
          </a:xfrm>
          <a:prstGeom prst="rect">
            <a:avLst/>
          </a:prstGeom>
          <a:noFill/>
          <a:ln/>
        </p:spPr>
        <p:txBody>
          <a:bodyPr wrap="square" lIns="0" tIns="0" rIns="0" bIns="0" rtlCol="0" anchor="ctr"/>
          <a:lstStyle/>
          <a:p>
            <a:pPr indent="0" marL="0">
              <a:buNone/>
            </a:pPr>
            <a:r>
              <a:rPr lang="en-US" sz="2600" b="1" dirty="0">
                <a:solidFill>
                  <a:srgbClr val="2F3C7E"/>
                </a:solidFill>
                <a:latin typeface="Cambria" pitchFamily="34" charset="0"/>
                <a:ea typeface="Cambria" pitchFamily="34" charset="-122"/>
                <a:cs typeface="Cambria" pitchFamily="34" charset="-120"/>
              </a:rPr>
              <a:t>701</a:t>
            </a:r>
            <a:endParaRPr lang="en-US" sz="2600" dirty="0"/>
          </a:p>
        </p:txBody>
      </p:sp>
      <p:sp>
        <p:nvSpPr>
          <p:cNvPr id="13" name="Text 10"/>
          <p:cNvSpPr/>
          <p:nvPr/>
        </p:nvSpPr>
        <p:spPr>
          <a:xfrm>
            <a:off x="8595360" y="3246120"/>
            <a:ext cx="2926080" cy="960120"/>
          </a:xfrm>
          <a:prstGeom prst="rect">
            <a:avLst/>
          </a:prstGeom>
          <a:noFill/>
          <a:ln/>
        </p:spPr>
        <p:txBody>
          <a:bodyPr wrap="square" lIns="0" tIns="0" rIns="0" bIns="0" rtlCol="0" anchor="ctr"/>
          <a:lstStyle/>
          <a:p>
            <a:pPr indent="0" marL="0">
              <a:lnSpc>
                <a:spcPct val="115000"/>
              </a:lnSpc>
              <a:buNone/>
            </a:pPr>
            <a:r>
              <a:rPr lang="en-US" sz="1250" dirty="0">
                <a:solidFill>
                  <a:srgbClr val="6B6E85"/>
                </a:solidFill>
                <a:latin typeface="Calibri" pitchFamily="34" charset="0"/>
                <a:ea typeface="Calibri" pitchFamily="34" charset="-122"/>
                <a:cs typeface="Calibri" pitchFamily="34" charset="-120"/>
              </a:rPr>
              <a:t>Returning customers (18.0%)</a:t>
            </a:r>
            <a:endParaRPr lang="en-US" sz="1250" dirty="0"/>
          </a:p>
        </p:txBody>
      </p:sp>
      <p:sp>
        <p:nvSpPr>
          <p:cNvPr id="14" name="Shape 11"/>
          <p:cNvSpPr/>
          <p:nvPr/>
        </p:nvSpPr>
        <p:spPr>
          <a:xfrm>
            <a:off x="6492240" y="4389120"/>
            <a:ext cx="5166360" cy="960120"/>
          </a:xfrm>
          <a:prstGeom prst="roundRect">
            <a:avLst>
              <a:gd name="adj" fmla="val 9524"/>
            </a:avLst>
          </a:prstGeom>
          <a:solidFill>
            <a:srgbClr val="F7F7FA"/>
          </a:solidFill>
          <a:ln/>
          <a:effectLst>
            <a:outerShdw sx="100000" sy="100000" kx="0" ky="0" algn="bl" rotWithShape="0" blurRad="76200" dist="25400" dir="5400000">
              <a:srgbClr val="000000">
                <a:alpha val="10000"/>
              </a:srgbClr>
            </a:outerShdw>
          </a:effectLst>
        </p:spPr>
      </p:sp>
      <p:sp>
        <p:nvSpPr>
          <p:cNvPr id="15" name="Shape 12"/>
          <p:cNvSpPr/>
          <p:nvPr/>
        </p:nvSpPr>
        <p:spPr>
          <a:xfrm>
            <a:off x="6492240" y="4389120"/>
            <a:ext cx="109728" cy="960120"/>
          </a:xfrm>
          <a:prstGeom prst="rect">
            <a:avLst/>
          </a:prstGeom>
          <a:solidFill>
            <a:srgbClr val="F9E795"/>
          </a:solidFill>
          <a:ln/>
        </p:spPr>
      </p:sp>
      <p:sp>
        <p:nvSpPr>
          <p:cNvPr id="16" name="Text 13"/>
          <p:cNvSpPr/>
          <p:nvPr/>
        </p:nvSpPr>
        <p:spPr>
          <a:xfrm>
            <a:off x="6812280" y="4389120"/>
            <a:ext cx="1828800" cy="960120"/>
          </a:xfrm>
          <a:prstGeom prst="rect">
            <a:avLst/>
          </a:prstGeom>
          <a:noFill/>
          <a:ln/>
        </p:spPr>
        <p:txBody>
          <a:bodyPr wrap="square" lIns="0" tIns="0" rIns="0" bIns="0" rtlCol="0" anchor="ctr"/>
          <a:lstStyle/>
          <a:p>
            <a:pPr indent="0" marL="0">
              <a:buNone/>
            </a:pPr>
            <a:r>
              <a:rPr lang="en-US" sz="2600" b="1" dirty="0">
                <a:solidFill>
                  <a:srgbClr val="2F3C7E"/>
                </a:solidFill>
                <a:latin typeface="Cambria" pitchFamily="34" charset="0"/>
                <a:ea typeface="Cambria" pitchFamily="34" charset="-122"/>
                <a:cs typeface="Cambria" pitchFamily="34" charset="-120"/>
              </a:rPr>
              <a:t>83</a:t>
            </a:r>
            <a:endParaRPr lang="en-US" sz="2600" dirty="0"/>
          </a:p>
        </p:txBody>
      </p:sp>
      <p:sp>
        <p:nvSpPr>
          <p:cNvPr id="17" name="Text 14"/>
          <p:cNvSpPr/>
          <p:nvPr/>
        </p:nvSpPr>
        <p:spPr>
          <a:xfrm>
            <a:off x="8595360" y="4389120"/>
            <a:ext cx="2926080" cy="960120"/>
          </a:xfrm>
          <a:prstGeom prst="rect">
            <a:avLst/>
          </a:prstGeom>
          <a:noFill/>
          <a:ln/>
        </p:spPr>
        <p:txBody>
          <a:bodyPr wrap="square" lIns="0" tIns="0" rIns="0" bIns="0" rtlCol="0" anchor="ctr"/>
          <a:lstStyle/>
          <a:p>
            <a:pPr indent="0" marL="0">
              <a:lnSpc>
                <a:spcPct val="115000"/>
              </a:lnSpc>
              <a:buNone/>
            </a:pPr>
            <a:r>
              <a:rPr lang="en-US" sz="1250" dirty="0">
                <a:solidFill>
                  <a:srgbClr val="6B6E85"/>
                </a:solidFill>
                <a:latin typeface="Calibri" pitchFamily="34" charset="0"/>
                <a:ea typeface="Calibri" pitchFamily="34" charset="-122"/>
                <a:cs typeface="Calibri" pitchFamily="34" charset="-120"/>
              </a:rPr>
              <a:t>New customers (2.1%)</a:t>
            </a:r>
            <a:endParaRPr lang="en-US" sz="1250" dirty="0"/>
          </a:p>
        </p:txBody>
      </p:sp>
      <p:sp>
        <p:nvSpPr>
          <p:cNvPr id="18" name="Text 15"/>
          <p:cNvSpPr/>
          <p:nvPr/>
        </p:nvSpPr>
        <p:spPr>
          <a:xfrm>
            <a:off x="6492240" y="5623560"/>
            <a:ext cx="5166360" cy="822960"/>
          </a:xfrm>
          <a:prstGeom prst="rect">
            <a:avLst/>
          </a:prstGeom>
          <a:noFill/>
          <a:ln/>
        </p:spPr>
        <p:txBody>
          <a:bodyPr wrap="square" lIns="0" tIns="0" rIns="0" bIns="0" rtlCol="0" anchor="ctr"/>
          <a:lstStyle/>
          <a:p>
            <a:pPr indent="0" marL="0">
              <a:lnSpc>
                <a:spcPct val="125000"/>
              </a:lnSpc>
              <a:buNone/>
            </a:pPr>
            <a:r>
              <a:rPr lang="en-US" sz="1150" i="1" dirty="0">
                <a:solidFill>
                  <a:srgbClr val="6B6E85"/>
                </a:solidFill>
                <a:latin typeface="Calibri" pitchFamily="34" charset="0"/>
                <a:ea typeface="Calibri" pitchFamily="34" charset="-122"/>
                <a:cs typeface="Calibri" pitchFamily="34" charset="-120"/>
              </a:rPr>
              <a:t>Repeat buyers (&gt;5 purchases): 958 subscribe vs. 2,518 who don't — subscription doesn't strongly correlate with repeat buying.</a:t>
            </a:r>
            <a:endParaRPr lang="en-US" sz="1150" dirty="0"/>
          </a:p>
        </p:txBody>
      </p:sp>
      <p:sp>
        <p:nvSpPr>
          <p:cNvPr id="19" name="Text 16"/>
          <p:cNvSpPr/>
          <p:nvPr/>
        </p:nvSpPr>
        <p:spPr>
          <a:xfrm>
            <a:off x="457200" y="6519672"/>
            <a:ext cx="7315200" cy="274320"/>
          </a:xfrm>
          <a:prstGeom prst="rect">
            <a:avLst/>
          </a:prstGeom>
          <a:noFill/>
          <a:ln/>
        </p:spPr>
        <p:txBody>
          <a:bodyPr wrap="square" lIns="0" tIns="0" rIns="0" bIns="0" rtlCol="0" anchor="ctr"/>
          <a:lstStyle/>
          <a:p>
            <a:pPr indent="0" marL="0">
              <a:buNone/>
            </a:pPr>
            <a:r>
              <a:rPr lang="en-US" sz="900" i="1" dirty="0">
                <a:solidFill>
                  <a:srgbClr val="6B6E85"/>
                </a:solidFill>
                <a:latin typeface="Calibri" pitchFamily="34" charset="0"/>
                <a:ea typeface="Calibri" pitchFamily="34" charset="-122"/>
                <a:cs typeface="Calibri" pitchFamily="34" charset="-120"/>
              </a:rPr>
              <a:t>Customer Shopping Behavior Analysis</a:t>
            </a:r>
            <a:endParaRPr lang="en-US" sz="900" dirty="0"/>
          </a:p>
        </p:txBody>
      </p:sp>
      <p:sp>
        <p:nvSpPr>
          <p:cNvPr id="20" name="Text 17"/>
          <p:cNvSpPr/>
          <p:nvPr/>
        </p:nvSpPr>
        <p:spPr>
          <a:xfrm>
            <a:off x="11274552" y="6519672"/>
            <a:ext cx="457200" cy="274320"/>
          </a:xfrm>
          <a:prstGeom prst="rect">
            <a:avLst/>
          </a:prstGeom>
          <a:noFill/>
          <a:ln/>
        </p:spPr>
        <p:txBody>
          <a:bodyPr wrap="square" lIns="0" tIns="0" rIns="0" bIns="0" rtlCol="0" anchor="ctr"/>
          <a:lstStyle/>
          <a:p>
            <a:pPr algn="r" indent="0" marL="0">
              <a:buNone/>
            </a:pPr>
            <a:r>
              <a:rPr lang="en-US" sz="900" dirty="0">
                <a:solidFill>
                  <a:srgbClr val="6B6E85"/>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8229600" cy="640080"/>
          </a:xfrm>
          <a:prstGeom prst="rect">
            <a:avLst/>
          </a:prstGeom>
          <a:noFill/>
          <a:ln/>
        </p:spPr>
        <p:txBody>
          <a:bodyPr wrap="square" lIns="0" tIns="0" rIns="0" bIns="0" rtlCol="0" anchor="ctr"/>
          <a:lstStyle/>
          <a:p>
            <a:pPr algn="l" indent="0" marL="0">
              <a:buNone/>
            </a:pPr>
            <a:r>
              <a:rPr lang="en-US" sz="3000" b="1" dirty="0">
                <a:solidFill>
                  <a:srgbClr val="2F3C7E"/>
                </a:solidFill>
                <a:latin typeface="Cambria" pitchFamily="34" charset="0"/>
                <a:ea typeface="Cambria" pitchFamily="34" charset="-122"/>
                <a:cs typeface="Cambria" pitchFamily="34" charset="-120"/>
              </a:rPr>
              <a:t>Revenue by Age Group</a:t>
            </a:r>
            <a:endParaRPr lang="en-US" sz="3000" dirty="0"/>
          </a:p>
        </p:txBody>
      </p:sp>
      <p:sp>
        <p:nvSpPr>
          <p:cNvPr id="3" name="Shape 1"/>
          <p:cNvSpPr/>
          <p:nvPr/>
        </p:nvSpPr>
        <p:spPr>
          <a:xfrm>
            <a:off x="548640" y="1143000"/>
            <a:ext cx="1280160" cy="54864"/>
          </a:xfrm>
          <a:prstGeom prst="rect">
            <a:avLst/>
          </a:prstGeom>
          <a:solidFill>
            <a:srgbClr val="F96167"/>
          </a:solidFill>
          <a:ln/>
        </p:spPr>
      </p:sp>
      <p:sp>
        <p:nvSpPr>
          <p:cNvPr id="4" name="Text 2"/>
          <p:cNvSpPr/>
          <p:nvPr/>
        </p:nvSpPr>
        <p:spPr>
          <a:xfrm>
            <a:off x="548640" y="1325880"/>
            <a:ext cx="8686800" cy="457200"/>
          </a:xfrm>
          <a:prstGeom prst="rect">
            <a:avLst/>
          </a:prstGeom>
          <a:noFill/>
          <a:ln/>
        </p:spPr>
        <p:txBody>
          <a:bodyPr wrap="square" lIns="0" tIns="0" rIns="0" bIns="0" rtlCol="0" anchor="ctr"/>
          <a:lstStyle/>
          <a:p>
            <a:pPr indent="0" marL="0">
              <a:buNone/>
            </a:pPr>
            <a:r>
              <a:rPr lang="en-US" sz="1400" dirty="0">
                <a:solidFill>
                  <a:srgbClr val="6B6E85"/>
                </a:solidFill>
                <a:latin typeface="Calibri" pitchFamily="34" charset="0"/>
                <a:ea typeface="Calibri" pitchFamily="34" charset="-122"/>
                <a:cs typeface="Calibri" pitchFamily="34" charset="-120"/>
              </a:rPr>
              <a:t>Revenue is fairly evenly distributed across age groups, with Young Adults contributing slightly more.</a:t>
            </a:r>
            <a:endParaRPr lang="en-US" sz="1400" dirty="0"/>
          </a:p>
        </p:txBody>
      </p:sp>
      <p:graphicFrame>
        <p:nvGraphicFramePr>
          <p:cNvPr id="5" name="Chart 0" descr=""/>
          <p:cNvGraphicFramePr/>
          <p:nvPr/>
        </p:nvGraphicFramePr>
        <p:xfrm>
          <a:off x="548640" y="1965960"/>
          <a:ext cx="11064240" cy="429768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457200" y="6519672"/>
            <a:ext cx="7315200" cy="274320"/>
          </a:xfrm>
          <a:prstGeom prst="rect">
            <a:avLst/>
          </a:prstGeom>
          <a:noFill/>
          <a:ln/>
        </p:spPr>
        <p:txBody>
          <a:bodyPr wrap="square" lIns="0" tIns="0" rIns="0" bIns="0" rtlCol="0" anchor="ctr"/>
          <a:lstStyle/>
          <a:p>
            <a:pPr indent="0" marL="0">
              <a:buNone/>
            </a:pPr>
            <a:r>
              <a:rPr lang="en-US" sz="900" i="1" dirty="0">
                <a:solidFill>
                  <a:srgbClr val="6B6E85"/>
                </a:solidFill>
                <a:latin typeface="Calibri" pitchFamily="34" charset="0"/>
                <a:ea typeface="Calibri" pitchFamily="34" charset="-122"/>
                <a:cs typeface="Calibri" pitchFamily="34" charset="-120"/>
              </a:rPr>
              <a:t>Customer Shopping Behavior Analysis</a:t>
            </a:r>
            <a:endParaRPr lang="en-US" sz="900" dirty="0"/>
          </a:p>
        </p:txBody>
      </p:sp>
      <p:sp>
        <p:nvSpPr>
          <p:cNvPr id="7" name="Text 4"/>
          <p:cNvSpPr/>
          <p:nvPr/>
        </p:nvSpPr>
        <p:spPr>
          <a:xfrm>
            <a:off x="11274552" y="6519672"/>
            <a:ext cx="457200" cy="274320"/>
          </a:xfrm>
          <a:prstGeom prst="rect">
            <a:avLst/>
          </a:prstGeom>
          <a:noFill/>
          <a:ln/>
        </p:spPr>
        <p:txBody>
          <a:bodyPr wrap="square" lIns="0" tIns="0" rIns="0" bIns="0" rtlCol="0" anchor="ctr"/>
          <a:lstStyle/>
          <a:p>
            <a:pPr algn="r" indent="0" marL="0">
              <a:buNone/>
            </a:pPr>
            <a:r>
              <a:rPr lang="en-US" sz="900" dirty="0">
                <a:solidFill>
                  <a:srgbClr val="6B6E85"/>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8229600" cy="640080"/>
          </a:xfrm>
          <a:prstGeom prst="rect">
            <a:avLst/>
          </a:prstGeom>
          <a:noFill/>
          <a:ln/>
        </p:spPr>
        <p:txBody>
          <a:bodyPr wrap="square" lIns="0" tIns="0" rIns="0" bIns="0" rtlCol="0" anchor="ctr"/>
          <a:lstStyle/>
          <a:p>
            <a:pPr algn="l" indent="0" marL="0">
              <a:buNone/>
            </a:pPr>
            <a:r>
              <a:rPr lang="en-US" sz="3000" b="1" dirty="0">
                <a:solidFill>
                  <a:srgbClr val="2F3C7E"/>
                </a:solidFill>
                <a:latin typeface="Cambria" pitchFamily="34" charset="0"/>
                <a:ea typeface="Cambria" pitchFamily="34" charset="-122"/>
                <a:cs typeface="Cambria" pitchFamily="34" charset="-120"/>
              </a:rPr>
              <a:t>Top Products by Category</a:t>
            </a:r>
            <a:endParaRPr lang="en-US" sz="3000" dirty="0"/>
          </a:p>
        </p:txBody>
      </p:sp>
      <p:sp>
        <p:nvSpPr>
          <p:cNvPr id="3" name="Shape 1"/>
          <p:cNvSpPr/>
          <p:nvPr/>
        </p:nvSpPr>
        <p:spPr>
          <a:xfrm>
            <a:off x="548640" y="1143000"/>
            <a:ext cx="1280160" cy="54864"/>
          </a:xfrm>
          <a:prstGeom prst="rect">
            <a:avLst/>
          </a:prstGeom>
          <a:solidFill>
            <a:srgbClr val="F96167"/>
          </a:solidFill>
          <a:ln/>
        </p:spPr>
      </p:sp>
      <p:sp>
        <p:nvSpPr>
          <p:cNvPr id="4" name="Text 2"/>
          <p:cNvSpPr/>
          <p:nvPr/>
        </p:nvSpPr>
        <p:spPr>
          <a:xfrm>
            <a:off x="548640" y="1325880"/>
            <a:ext cx="8686800" cy="457200"/>
          </a:xfrm>
          <a:prstGeom prst="rect">
            <a:avLst/>
          </a:prstGeom>
          <a:noFill/>
          <a:ln/>
        </p:spPr>
        <p:txBody>
          <a:bodyPr wrap="square" lIns="0" tIns="0" rIns="0" bIns="0" rtlCol="0" anchor="ctr"/>
          <a:lstStyle/>
          <a:p>
            <a:pPr indent="0" marL="0">
              <a:buNone/>
            </a:pPr>
            <a:r>
              <a:rPr lang="en-US" sz="1400" dirty="0">
                <a:solidFill>
                  <a:srgbClr val="6B6E85"/>
                </a:solidFill>
                <a:latin typeface="Calibri" pitchFamily="34" charset="0"/>
                <a:ea typeface="Calibri" pitchFamily="34" charset="-122"/>
                <a:cs typeface="Calibri" pitchFamily="34" charset="-120"/>
              </a:rPr>
              <a:t>Leading items within each of the four product categories, by total orders.</a:t>
            </a:r>
            <a:endParaRPr lang="en-US" sz="1400" dirty="0"/>
          </a:p>
        </p:txBody>
      </p:sp>
      <p:sp>
        <p:nvSpPr>
          <p:cNvPr id="5" name="Shape 3"/>
          <p:cNvSpPr/>
          <p:nvPr/>
        </p:nvSpPr>
        <p:spPr>
          <a:xfrm>
            <a:off x="548640" y="2103120"/>
            <a:ext cx="2651760" cy="4114800"/>
          </a:xfrm>
          <a:prstGeom prst="roundRect">
            <a:avLst>
              <a:gd name="adj" fmla="val 4138"/>
            </a:avLst>
          </a:prstGeom>
          <a:solidFill>
            <a:srgbClr val="F7F7FA"/>
          </a:solidFill>
          <a:ln/>
          <a:effectLst>
            <a:outerShdw sx="100000" sy="100000" kx="0" ky="0" algn="bl" rotWithShape="0" blurRad="76200" dist="25400" dir="5400000">
              <a:srgbClr val="000000">
                <a:alpha val="10000"/>
              </a:srgbClr>
            </a:outerShdw>
          </a:effectLst>
        </p:spPr>
      </p:sp>
      <p:sp>
        <p:nvSpPr>
          <p:cNvPr id="6" name="Shape 4"/>
          <p:cNvSpPr/>
          <p:nvPr/>
        </p:nvSpPr>
        <p:spPr>
          <a:xfrm>
            <a:off x="777240" y="2377440"/>
            <a:ext cx="548640" cy="548640"/>
          </a:xfrm>
          <a:prstGeom prst="ellipse">
            <a:avLst/>
          </a:prstGeom>
          <a:solidFill>
            <a:srgbClr val="2F3C7E"/>
          </a:solidFill>
          <a:ln/>
        </p:spPr>
      </p:sp>
      <p:sp>
        <p:nvSpPr>
          <p:cNvPr id="7" name="Text 5"/>
          <p:cNvSpPr/>
          <p:nvPr/>
        </p:nvSpPr>
        <p:spPr>
          <a:xfrm>
            <a:off x="777240" y="2377440"/>
            <a:ext cx="548640" cy="54864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8" name="Text 6"/>
          <p:cNvSpPr/>
          <p:nvPr/>
        </p:nvSpPr>
        <p:spPr>
          <a:xfrm>
            <a:off x="777240" y="3017520"/>
            <a:ext cx="2194560" cy="365760"/>
          </a:xfrm>
          <a:prstGeom prst="rect">
            <a:avLst/>
          </a:prstGeom>
          <a:noFill/>
          <a:ln/>
        </p:spPr>
        <p:txBody>
          <a:bodyPr wrap="square" lIns="0" tIns="0" rIns="0" bIns="0" rtlCol="0" anchor="ctr"/>
          <a:lstStyle/>
          <a:p>
            <a:pPr indent="0" marL="0">
              <a:buNone/>
            </a:pPr>
            <a:r>
              <a:rPr lang="en-US" sz="1500" b="1" dirty="0">
                <a:solidFill>
                  <a:srgbClr val="2F3C7E"/>
                </a:solidFill>
                <a:latin typeface="Cambria" pitchFamily="34" charset="0"/>
                <a:ea typeface="Cambria" pitchFamily="34" charset="-122"/>
                <a:cs typeface="Cambria" pitchFamily="34" charset="-120"/>
              </a:rPr>
              <a:t>Clothing</a:t>
            </a:r>
            <a:endParaRPr lang="en-US" sz="1500" dirty="0"/>
          </a:p>
        </p:txBody>
      </p:sp>
      <p:sp>
        <p:nvSpPr>
          <p:cNvPr id="9" name="Text 7"/>
          <p:cNvSpPr/>
          <p:nvPr/>
        </p:nvSpPr>
        <p:spPr>
          <a:xfrm>
            <a:off x="777240" y="3520440"/>
            <a:ext cx="365760" cy="502920"/>
          </a:xfrm>
          <a:prstGeom prst="rect">
            <a:avLst/>
          </a:prstGeom>
          <a:noFill/>
          <a:ln/>
        </p:spPr>
        <p:txBody>
          <a:bodyPr wrap="square" lIns="0" tIns="0" rIns="0" bIns="0" rtlCol="0" anchor="ctr"/>
          <a:lstStyle/>
          <a:p>
            <a:pPr indent="0" marL="0">
              <a:buNone/>
            </a:pPr>
            <a:r>
              <a:rPr lang="en-US" sz="1300" b="1" dirty="0">
                <a:solidFill>
                  <a:srgbClr val="F96167"/>
                </a:solidFill>
                <a:latin typeface="Calibri" pitchFamily="34" charset="0"/>
                <a:ea typeface="Calibri" pitchFamily="34" charset="-122"/>
                <a:cs typeface="Calibri" pitchFamily="34" charset="-120"/>
              </a:rPr>
              <a:t>1</a:t>
            </a:r>
            <a:endParaRPr lang="en-US" sz="1300" dirty="0"/>
          </a:p>
        </p:txBody>
      </p:sp>
      <p:sp>
        <p:nvSpPr>
          <p:cNvPr id="10" name="Text 8"/>
          <p:cNvSpPr/>
          <p:nvPr/>
        </p:nvSpPr>
        <p:spPr>
          <a:xfrm>
            <a:off x="1143000" y="3520440"/>
            <a:ext cx="1280160" cy="502920"/>
          </a:xfrm>
          <a:prstGeom prst="rect">
            <a:avLst/>
          </a:prstGeom>
          <a:noFill/>
          <a:ln/>
        </p:spPr>
        <p:txBody>
          <a:bodyPr wrap="square" lIns="0" tIns="0" rIns="0" bIns="0" rtlCol="0" anchor="ctr"/>
          <a:lstStyle/>
          <a:p>
            <a:pPr indent="0" marL="0">
              <a:buNone/>
            </a:pPr>
            <a:r>
              <a:rPr lang="en-US" sz="1250" dirty="0">
                <a:solidFill>
                  <a:srgbClr val="2B2B33"/>
                </a:solidFill>
                <a:latin typeface="Calibri" pitchFamily="34" charset="0"/>
                <a:ea typeface="Calibri" pitchFamily="34" charset="-122"/>
                <a:cs typeface="Calibri" pitchFamily="34" charset="-120"/>
              </a:rPr>
              <a:t>Blouse</a:t>
            </a:r>
            <a:endParaRPr lang="en-US" sz="1250" dirty="0"/>
          </a:p>
        </p:txBody>
      </p:sp>
      <p:sp>
        <p:nvSpPr>
          <p:cNvPr id="11" name="Text 9"/>
          <p:cNvSpPr/>
          <p:nvPr/>
        </p:nvSpPr>
        <p:spPr>
          <a:xfrm>
            <a:off x="2423160" y="3520440"/>
            <a:ext cx="594360" cy="502920"/>
          </a:xfrm>
          <a:prstGeom prst="rect">
            <a:avLst/>
          </a:prstGeom>
          <a:noFill/>
          <a:ln/>
        </p:spPr>
        <p:txBody>
          <a:bodyPr wrap="square" lIns="0" tIns="0" rIns="0" bIns="0" rtlCol="0" anchor="ctr"/>
          <a:lstStyle/>
          <a:p>
            <a:pPr algn="r" indent="0" marL="0">
              <a:buNone/>
            </a:pPr>
            <a:r>
              <a:rPr lang="en-US" sz="1150" dirty="0">
                <a:solidFill>
                  <a:srgbClr val="6B6E85"/>
                </a:solidFill>
                <a:latin typeface="Calibri" pitchFamily="34" charset="0"/>
                <a:ea typeface="Calibri" pitchFamily="34" charset="-122"/>
                <a:cs typeface="Calibri" pitchFamily="34" charset="-120"/>
              </a:rPr>
              <a:t>171</a:t>
            </a:r>
            <a:endParaRPr lang="en-US" sz="1150" dirty="0"/>
          </a:p>
        </p:txBody>
      </p:sp>
      <p:sp>
        <p:nvSpPr>
          <p:cNvPr id="12" name="Text 10"/>
          <p:cNvSpPr/>
          <p:nvPr/>
        </p:nvSpPr>
        <p:spPr>
          <a:xfrm>
            <a:off x="777240" y="4087368"/>
            <a:ext cx="365760" cy="502920"/>
          </a:xfrm>
          <a:prstGeom prst="rect">
            <a:avLst/>
          </a:prstGeom>
          <a:noFill/>
          <a:ln/>
        </p:spPr>
        <p:txBody>
          <a:bodyPr wrap="square" lIns="0" tIns="0" rIns="0" bIns="0" rtlCol="0" anchor="ctr"/>
          <a:lstStyle/>
          <a:p>
            <a:pPr indent="0" marL="0">
              <a:buNone/>
            </a:pPr>
            <a:r>
              <a:rPr lang="en-US" sz="1300" b="1" dirty="0">
                <a:solidFill>
                  <a:srgbClr val="F96167"/>
                </a:solidFill>
                <a:latin typeface="Calibri" pitchFamily="34" charset="0"/>
                <a:ea typeface="Calibri" pitchFamily="34" charset="-122"/>
                <a:cs typeface="Calibri" pitchFamily="34" charset="-120"/>
              </a:rPr>
              <a:t>2</a:t>
            </a:r>
            <a:endParaRPr lang="en-US" sz="1300" dirty="0"/>
          </a:p>
        </p:txBody>
      </p:sp>
      <p:sp>
        <p:nvSpPr>
          <p:cNvPr id="13" name="Text 11"/>
          <p:cNvSpPr/>
          <p:nvPr/>
        </p:nvSpPr>
        <p:spPr>
          <a:xfrm>
            <a:off x="1143000" y="4087368"/>
            <a:ext cx="1280160" cy="502920"/>
          </a:xfrm>
          <a:prstGeom prst="rect">
            <a:avLst/>
          </a:prstGeom>
          <a:noFill/>
          <a:ln/>
        </p:spPr>
        <p:txBody>
          <a:bodyPr wrap="square" lIns="0" tIns="0" rIns="0" bIns="0" rtlCol="0" anchor="ctr"/>
          <a:lstStyle/>
          <a:p>
            <a:pPr indent="0" marL="0">
              <a:buNone/>
            </a:pPr>
            <a:r>
              <a:rPr lang="en-US" sz="1250" dirty="0">
                <a:solidFill>
                  <a:srgbClr val="2B2B33"/>
                </a:solidFill>
                <a:latin typeface="Calibri" pitchFamily="34" charset="0"/>
                <a:ea typeface="Calibri" pitchFamily="34" charset="-122"/>
                <a:cs typeface="Calibri" pitchFamily="34" charset="-120"/>
              </a:rPr>
              <a:t>Pants</a:t>
            </a:r>
            <a:endParaRPr lang="en-US" sz="1250" dirty="0"/>
          </a:p>
        </p:txBody>
      </p:sp>
      <p:sp>
        <p:nvSpPr>
          <p:cNvPr id="14" name="Text 12"/>
          <p:cNvSpPr/>
          <p:nvPr/>
        </p:nvSpPr>
        <p:spPr>
          <a:xfrm>
            <a:off x="2423160" y="4087368"/>
            <a:ext cx="594360" cy="502920"/>
          </a:xfrm>
          <a:prstGeom prst="rect">
            <a:avLst/>
          </a:prstGeom>
          <a:noFill/>
          <a:ln/>
        </p:spPr>
        <p:txBody>
          <a:bodyPr wrap="square" lIns="0" tIns="0" rIns="0" bIns="0" rtlCol="0" anchor="ctr"/>
          <a:lstStyle/>
          <a:p>
            <a:pPr algn="r" indent="0" marL="0">
              <a:buNone/>
            </a:pPr>
            <a:r>
              <a:rPr lang="en-US" sz="1150" dirty="0">
                <a:solidFill>
                  <a:srgbClr val="6B6E85"/>
                </a:solidFill>
                <a:latin typeface="Calibri" pitchFamily="34" charset="0"/>
                <a:ea typeface="Calibri" pitchFamily="34" charset="-122"/>
                <a:cs typeface="Calibri" pitchFamily="34" charset="-120"/>
              </a:rPr>
              <a:t>171</a:t>
            </a:r>
            <a:endParaRPr lang="en-US" sz="1150" dirty="0"/>
          </a:p>
        </p:txBody>
      </p:sp>
      <p:sp>
        <p:nvSpPr>
          <p:cNvPr id="15" name="Text 13"/>
          <p:cNvSpPr/>
          <p:nvPr/>
        </p:nvSpPr>
        <p:spPr>
          <a:xfrm>
            <a:off x="777240" y="4654296"/>
            <a:ext cx="365760" cy="502920"/>
          </a:xfrm>
          <a:prstGeom prst="rect">
            <a:avLst/>
          </a:prstGeom>
          <a:noFill/>
          <a:ln/>
        </p:spPr>
        <p:txBody>
          <a:bodyPr wrap="square" lIns="0" tIns="0" rIns="0" bIns="0" rtlCol="0" anchor="ctr"/>
          <a:lstStyle/>
          <a:p>
            <a:pPr indent="0" marL="0">
              <a:buNone/>
            </a:pPr>
            <a:r>
              <a:rPr lang="en-US" sz="1300" b="1" dirty="0">
                <a:solidFill>
                  <a:srgbClr val="F96167"/>
                </a:solidFill>
                <a:latin typeface="Calibri" pitchFamily="34" charset="0"/>
                <a:ea typeface="Calibri" pitchFamily="34" charset="-122"/>
                <a:cs typeface="Calibri" pitchFamily="34" charset="-120"/>
              </a:rPr>
              <a:t>3</a:t>
            </a:r>
            <a:endParaRPr lang="en-US" sz="1300" dirty="0"/>
          </a:p>
        </p:txBody>
      </p:sp>
      <p:sp>
        <p:nvSpPr>
          <p:cNvPr id="16" name="Text 14"/>
          <p:cNvSpPr/>
          <p:nvPr/>
        </p:nvSpPr>
        <p:spPr>
          <a:xfrm>
            <a:off x="1143000" y="4654296"/>
            <a:ext cx="1280160" cy="502920"/>
          </a:xfrm>
          <a:prstGeom prst="rect">
            <a:avLst/>
          </a:prstGeom>
          <a:noFill/>
          <a:ln/>
        </p:spPr>
        <p:txBody>
          <a:bodyPr wrap="square" lIns="0" tIns="0" rIns="0" bIns="0" rtlCol="0" anchor="ctr"/>
          <a:lstStyle/>
          <a:p>
            <a:pPr indent="0" marL="0">
              <a:buNone/>
            </a:pPr>
            <a:r>
              <a:rPr lang="en-US" sz="1250" dirty="0">
                <a:solidFill>
                  <a:srgbClr val="2B2B33"/>
                </a:solidFill>
                <a:latin typeface="Calibri" pitchFamily="34" charset="0"/>
                <a:ea typeface="Calibri" pitchFamily="34" charset="-122"/>
                <a:cs typeface="Calibri" pitchFamily="34" charset="-120"/>
              </a:rPr>
              <a:t>Shirt</a:t>
            </a:r>
            <a:endParaRPr lang="en-US" sz="1250" dirty="0"/>
          </a:p>
        </p:txBody>
      </p:sp>
      <p:sp>
        <p:nvSpPr>
          <p:cNvPr id="17" name="Text 15"/>
          <p:cNvSpPr/>
          <p:nvPr/>
        </p:nvSpPr>
        <p:spPr>
          <a:xfrm>
            <a:off x="2423160" y="4654296"/>
            <a:ext cx="594360" cy="502920"/>
          </a:xfrm>
          <a:prstGeom prst="rect">
            <a:avLst/>
          </a:prstGeom>
          <a:noFill/>
          <a:ln/>
        </p:spPr>
        <p:txBody>
          <a:bodyPr wrap="square" lIns="0" tIns="0" rIns="0" bIns="0" rtlCol="0" anchor="ctr"/>
          <a:lstStyle/>
          <a:p>
            <a:pPr algn="r" indent="0" marL="0">
              <a:buNone/>
            </a:pPr>
            <a:r>
              <a:rPr lang="en-US" sz="1150" dirty="0">
                <a:solidFill>
                  <a:srgbClr val="6B6E85"/>
                </a:solidFill>
                <a:latin typeface="Calibri" pitchFamily="34" charset="0"/>
                <a:ea typeface="Calibri" pitchFamily="34" charset="-122"/>
                <a:cs typeface="Calibri" pitchFamily="34" charset="-120"/>
              </a:rPr>
              <a:t>169</a:t>
            </a:r>
            <a:endParaRPr lang="en-US" sz="1150" dirty="0"/>
          </a:p>
        </p:txBody>
      </p:sp>
      <p:sp>
        <p:nvSpPr>
          <p:cNvPr id="18" name="Shape 16"/>
          <p:cNvSpPr/>
          <p:nvPr/>
        </p:nvSpPr>
        <p:spPr>
          <a:xfrm>
            <a:off x="3429000" y="2103120"/>
            <a:ext cx="2651760" cy="4114800"/>
          </a:xfrm>
          <a:prstGeom prst="roundRect">
            <a:avLst>
              <a:gd name="adj" fmla="val 4138"/>
            </a:avLst>
          </a:prstGeom>
          <a:solidFill>
            <a:srgbClr val="F7F7FA"/>
          </a:solidFill>
          <a:ln/>
          <a:effectLst>
            <a:outerShdw sx="100000" sy="100000" kx="0" ky="0" algn="bl" rotWithShape="0" blurRad="76200" dist="25400" dir="5400000">
              <a:srgbClr val="000000">
                <a:alpha val="10000"/>
              </a:srgbClr>
            </a:outerShdw>
          </a:effectLst>
        </p:spPr>
      </p:sp>
      <p:sp>
        <p:nvSpPr>
          <p:cNvPr id="19" name="Shape 17"/>
          <p:cNvSpPr/>
          <p:nvPr/>
        </p:nvSpPr>
        <p:spPr>
          <a:xfrm>
            <a:off x="3657600" y="2377440"/>
            <a:ext cx="548640" cy="548640"/>
          </a:xfrm>
          <a:prstGeom prst="ellipse">
            <a:avLst/>
          </a:prstGeom>
          <a:solidFill>
            <a:srgbClr val="2F3C7E"/>
          </a:solidFill>
          <a:ln/>
        </p:spPr>
      </p:sp>
      <p:sp>
        <p:nvSpPr>
          <p:cNvPr id="20" name="Text 18"/>
          <p:cNvSpPr/>
          <p:nvPr/>
        </p:nvSpPr>
        <p:spPr>
          <a:xfrm>
            <a:off x="3657600" y="2377440"/>
            <a:ext cx="548640" cy="54864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1" name="Text 19"/>
          <p:cNvSpPr/>
          <p:nvPr/>
        </p:nvSpPr>
        <p:spPr>
          <a:xfrm>
            <a:off x="3657600" y="3017520"/>
            <a:ext cx="2194560" cy="365760"/>
          </a:xfrm>
          <a:prstGeom prst="rect">
            <a:avLst/>
          </a:prstGeom>
          <a:noFill/>
          <a:ln/>
        </p:spPr>
        <p:txBody>
          <a:bodyPr wrap="square" lIns="0" tIns="0" rIns="0" bIns="0" rtlCol="0" anchor="ctr"/>
          <a:lstStyle/>
          <a:p>
            <a:pPr indent="0" marL="0">
              <a:buNone/>
            </a:pPr>
            <a:r>
              <a:rPr lang="en-US" sz="1500" b="1" dirty="0">
                <a:solidFill>
                  <a:srgbClr val="2F3C7E"/>
                </a:solidFill>
                <a:latin typeface="Cambria" pitchFamily="34" charset="0"/>
                <a:ea typeface="Cambria" pitchFamily="34" charset="-122"/>
                <a:cs typeface="Cambria" pitchFamily="34" charset="-120"/>
              </a:rPr>
              <a:t>Accessories</a:t>
            </a:r>
            <a:endParaRPr lang="en-US" sz="1500" dirty="0"/>
          </a:p>
        </p:txBody>
      </p:sp>
      <p:sp>
        <p:nvSpPr>
          <p:cNvPr id="22" name="Text 20"/>
          <p:cNvSpPr/>
          <p:nvPr/>
        </p:nvSpPr>
        <p:spPr>
          <a:xfrm>
            <a:off x="3657600" y="3520440"/>
            <a:ext cx="365760" cy="502920"/>
          </a:xfrm>
          <a:prstGeom prst="rect">
            <a:avLst/>
          </a:prstGeom>
          <a:noFill/>
          <a:ln/>
        </p:spPr>
        <p:txBody>
          <a:bodyPr wrap="square" lIns="0" tIns="0" rIns="0" bIns="0" rtlCol="0" anchor="ctr"/>
          <a:lstStyle/>
          <a:p>
            <a:pPr indent="0" marL="0">
              <a:buNone/>
            </a:pPr>
            <a:r>
              <a:rPr lang="en-US" sz="1300" b="1" dirty="0">
                <a:solidFill>
                  <a:srgbClr val="F96167"/>
                </a:solidFill>
                <a:latin typeface="Calibri" pitchFamily="34" charset="0"/>
                <a:ea typeface="Calibri" pitchFamily="34" charset="-122"/>
                <a:cs typeface="Calibri" pitchFamily="34" charset="-120"/>
              </a:rPr>
              <a:t>1</a:t>
            </a:r>
            <a:endParaRPr lang="en-US" sz="1300" dirty="0"/>
          </a:p>
        </p:txBody>
      </p:sp>
      <p:sp>
        <p:nvSpPr>
          <p:cNvPr id="23" name="Text 21"/>
          <p:cNvSpPr/>
          <p:nvPr/>
        </p:nvSpPr>
        <p:spPr>
          <a:xfrm>
            <a:off x="4023360" y="3520440"/>
            <a:ext cx="1280160" cy="502920"/>
          </a:xfrm>
          <a:prstGeom prst="rect">
            <a:avLst/>
          </a:prstGeom>
          <a:noFill/>
          <a:ln/>
        </p:spPr>
        <p:txBody>
          <a:bodyPr wrap="square" lIns="0" tIns="0" rIns="0" bIns="0" rtlCol="0" anchor="ctr"/>
          <a:lstStyle/>
          <a:p>
            <a:pPr indent="0" marL="0">
              <a:buNone/>
            </a:pPr>
            <a:r>
              <a:rPr lang="en-US" sz="1250" dirty="0">
                <a:solidFill>
                  <a:srgbClr val="2B2B33"/>
                </a:solidFill>
                <a:latin typeface="Calibri" pitchFamily="34" charset="0"/>
                <a:ea typeface="Calibri" pitchFamily="34" charset="-122"/>
                <a:cs typeface="Calibri" pitchFamily="34" charset="-120"/>
              </a:rPr>
              <a:t>Jewelry</a:t>
            </a:r>
            <a:endParaRPr lang="en-US" sz="1250" dirty="0"/>
          </a:p>
        </p:txBody>
      </p:sp>
      <p:sp>
        <p:nvSpPr>
          <p:cNvPr id="24" name="Text 22"/>
          <p:cNvSpPr/>
          <p:nvPr/>
        </p:nvSpPr>
        <p:spPr>
          <a:xfrm>
            <a:off x="5303520" y="3520440"/>
            <a:ext cx="594360" cy="502920"/>
          </a:xfrm>
          <a:prstGeom prst="rect">
            <a:avLst/>
          </a:prstGeom>
          <a:noFill/>
          <a:ln/>
        </p:spPr>
        <p:txBody>
          <a:bodyPr wrap="square" lIns="0" tIns="0" rIns="0" bIns="0" rtlCol="0" anchor="ctr"/>
          <a:lstStyle/>
          <a:p>
            <a:pPr algn="r" indent="0" marL="0">
              <a:buNone/>
            </a:pPr>
            <a:r>
              <a:rPr lang="en-US" sz="1150" dirty="0">
                <a:solidFill>
                  <a:srgbClr val="6B6E85"/>
                </a:solidFill>
                <a:latin typeface="Calibri" pitchFamily="34" charset="0"/>
                <a:ea typeface="Calibri" pitchFamily="34" charset="-122"/>
                <a:cs typeface="Calibri" pitchFamily="34" charset="-120"/>
              </a:rPr>
              <a:t>171</a:t>
            </a:r>
            <a:endParaRPr lang="en-US" sz="1150" dirty="0"/>
          </a:p>
        </p:txBody>
      </p:sp>
      <p:sp>
        <p:nvSpPr>
          <p:cNvPr id="25" name="Text 23"/>
          <p:cNvSpPr/>
          <p:nvPr/>
        </p:nvSpPr>
        <p:spPr>
          <a:xfrm>
            <a:off x="3657600" y="4087368"/>
            <a:ext cx="365760" cy="502920"/>
          </a:xfrm>
          <a:prstGeom prst="rect">
            <a:avLst/>
          </a:prstGeom>
          <a:noFill/>
          <a:ln/>
        </p:spPr>
        <p:txBody>
          <a:bodyPr wrap="square" lIns="0" tIns="0" rIns="0" bIns="0" rtlCol="0" anchor="ctr"/>
          <a:lstStyle/>
          <a:p>
            <a:pPr indent="0" marL="0">
              <a:buNone/>
            </a:pPr>
            <a:r>
              <a:rPr lang="en-US" sz="1300" b="1" dirty="0">
                <a:solidFill>
                  <a:srgbClr val="F96167"/>
                </a:solidFill>
                <a:latin typeface="Calibri" pitchFamily="34" charset="0"/>
                <a:ea typeface="Calibri" pitchFamily="34" charset="-122"/>
                <a:cs typeface="Calibri" pitchFamily="34" charset="-120"/>
              </a:rPr>
              <a:t>2</a:t>
            </a:r>
            <a:endParaRPr lang="en-US" sz="1300" dirty="0"/>
          </a:p>
        </p:txBody>
      </p:sp>
      <p:sp>
        <p:nvSpPr>
          <p:cNvPr id="26" name="Text 24"/>
          <p:cNvSpPr/>
          <p:nvPr/>
        </p:nvSpPr>
        <p:spPr>
          <a:xfrm>
            <a:off x="4023360" y="4087368"/>
            <a:ext cx="1280160" cy="502920"/>
          </a:xfrm>
          <a:prstGeom prst="rect">
            <a:avLst/>
          </a:prstGeom>
          <a:noFill/>
          <a:ln/>
        </p:spPr>
        <p:txBody>
          <a:bodyPr wrap="square" lIns="0" tIns="0" rIns="0" bIns="0" rtlCol="0" anchor="ctr"/>
          <a:lstStyle/>
          <a:p>
            <a:pPr indent="0" marL="0">
              <a:buNone/>
            </a:pPr>
            <a:r>
              <a:rPr lang="en-US" sz="1250" dirty="0">
                <a:solidFill>
                  <a:srgbClr val="2B2B33"/>
                </a:solidFill>
                <a:latin typeface="Calibri" pitchFamily="34" charset="0"/>
                <a:ea typeface="Calibri" pitchFamily="34" charset="-122"/>
                <a:cs typeface="Calibri" pitchFamily="34" charset="-120"/>
              </a:rPr>
              <a:t>Sunglasses</a:t>
            </a:r>
            <a:endParaRPr lang="en-US" sz="1250" dirty="0"/>
          </a:p>
        </p:txBody>
      </p:sp>
      <p:sp>
        <p:nvSpPr>
          <p:cNvPr id="27" name="Text 25"/>
          <p:cNvSpPr/>
          <p:nvPr/>
        </p:nvSpPr>
        <p:spPr>
          <a:xfrm>
            <a:off x="5303520" y="4087368"/>
            <a:ext cx="594360" cy="502920"/>
          </a:xfrm>
          <a:prstGeom prst="rect">
            <a:avLst/>
          </a:prstGeom>
          <a:noFill/>
          <a:ln/>
        </p:spPr>
        <p:txBody>
          <a:bodyPr wrap="square" lIns="0" tIns="0" rIns="0" bIns="0" rtlCol="0" anchor="ctr"/>
          <a:lstStyle/>
          <a:p>
            <a:pPr algn="r" indent="0" marL="0">
              <a:buNone/>
            </a:pPr>
            <a:r>
              <a:rPr lang="en-US" sz="1150" dirty="0">
                <a:solidFill>
                  <a:srgbClr val="6B6E85"/>
                </a:solidFill>
                <a:latin typeface="Calibri" pitchFamily="34" charset="0"/>
                <a:ea typeface="Calibri" pitchFamily="34" charset="-122"/>
                <a:cs typeface="Calibri" pitchFamily="34" charset="-120"/>
              </a:rPr>
              <a:t>161</a:t>
            </a:r>
            <a:endParaRPr lang="en-US" sz="1150" dirty="0"/>
          </a:p>
        </p:txBody>
      </p:sp>
      <p:sp>
        <p:nvSpPr>
          <p:cNvPr id="28" name="Text 26"/>
          <p:cNvSpPr/>
          <p:nvPr/>
        </p:nvSpPr>
        <p:spPr>
          <a:xfrm>
            <a:off x="3657600" y="4654296"/>
            <a:ext cx="365760" cy="502920"/>
          </a:xfrm>
          <a:prstGeom prst="rect">
            <a:avLst/>
          </a:prstGeom>
          <a:noFill/>
          <a:ln/>
        </p:spPr>
        <p:txBody>
          <a:bodyPr wrap="square" lIns="0" tIns="0" rIns="0" bIns="0" rtlCol="0" anchor="ctr"/>
          <a:lstStyle/>
          <a:p>
            <a:pPr indent="0" marL="0">
              <a:buNone/>
            </a:pPr>
            <a:r>
              <a:rPr lang="en-US" sz="1300" b="1" dirty="0">
                <a:solidFill>
                  <a:srgbClr val="F96167"/>
                </a:solidFill>
                <a:latin typeface="Calibri" pitchFamily="34" charset="0"/>
                <a:ea typeface="Calibri" pitchFamily="34" charset="-122"/>
                <a:cs typeface="Calibri" pitchFamily="34" charset="-120"/>
              </a:rPr>
              <a:t>3</a:t>
            </a:r>
            <a:endParaRPr lang="en-US" sz="1300" dirty="0"/>
          </a:p>
        </p:txBody>
      </p:sp>
      <p:sp>
        <p:nvSpPr>
          <p:cNvPr id="29" name="Text 27"/>
          <p:cNvSpPr/>
          <p:nvPr/>
        </p:nvSpPr>
        <p:spPr>
          <a:xfrm>
            <a:off x="4023360" y="4654296"/>
            <a:ext cx="1280160" cy="502920"/>
          </a:xfrm>
          <a:prstGeom prst="rect">
            <a:avLst/>
          </a:prstGeom>
          <a:noFill/>
          <a:ln/>
        </p:spPr>
        <p:txBody>
          <a:bodyPr wrap="square" lIns="0" tIns="0" rIns="0" bIns="0" rtlCol="0" anchor="ctr"/>
          <a:lstStyle/>
          <a:p>
            <a:pPr indent="0" marL="0">
              <a:buNone/>
            </a:pPr>
            <a:r>
              <a:rPr lang="en-US" sz="1250" dirty="0">
                <a:solidFill>
                  <a:srgbClr val="2B2B33"/>
                </a:solidFill>
                <a:latin typeface="Calibri" pitchFamily="34" charset="0"/>
                <a:ea typeface="Calibri" pitchFamily="34" charset="-122"/>
                <a:cs typeface="Calibri" pitchFamily="34" charset="-120"/>
              </a:rPr>
              <a:t>Belt</a:t>
            </a:r>
            <a:endParaRPr lang="en-US" sz="1250" dirty="0"/>
          </a:p>
        </p:txBody>
      </p:sp>
      <p:sp>
        <p:nvSpPr>
          <p:cNvPr id="30" name="Text 28"/>
          <p:cNvSpPr/>
          <p:nvPr/>
        </p:nvSpPr>
        <p:spPr>
          <a:xfrm>
            <a:off x="5303520" y="4654296"/>
            <a:ext cx="594360" cy="502920"/>
          </a:xfrm>
          <a:prstGeom prst="rect">
            <a:avLst/>
          </a:prstGeom>
          <a:noFill/>
          <a:ln/>
        </p:spPr>
        <p:txBody>
          <a:bodyPr wrap="square" lIns="0" tIns="0" rIns="0" bIns="0" rtlCol="0" anchor="ctr"/>
          <a:lstStyle/>
          <a:p>
            <a:pPr algn="r" indent="0" marL="0">
              <a:buNone/>
            </a:pPr>
            <a:r>
              <a:rPr lang="en-US" sz="1150" dirty="0">
                <a:solidFill>
                  <a:srgbClr val="6B6E85"/>
                </a:solidFill>
                <a:latin typeface="Calibri" pitchFamily="34" charset="0"/>
                <a:ea typeface="Calibri" pitchFamily="34" charset="-122"/>
                <a:cs typeface="Calibri" pitchFamily="34" charset="-120"/>
              </a:rPr>
              <a:t>161</a:t>
            </a:r>
            <a:endParaRPr lang="en-US" sz="1150" dirty="0"/>
          </a:p>
        </p:txBody>
      </p:sp>
      <p:sp>
        <p:nvSpPr>
          <p:cNvPr id="31" name="Shape 29"/>
          <p:cNvSpPr/>
          <p:nvPr/>
        </p:nvSpPr>
        <p:spPr>
          <a:xfrm>
            <a:off x="6309360" y="2103120"/>
            <a:ext cx="2651760" cy="4114800"/>
          </a:xfrm>
          <a:prstGeom prst="roundRect">
            <a:avLst>
              <a:gd name="adj" fmla="val 4138"/>
            </a:avLst>
          </a:prstGeom>
          <a:solidFill>
            <a:srgbClr val="F7F7FA"/>
          </a:solidFill>
          <a:ln/>
          <a:effectLst>
            <a:outerShdw sx="100000" sy="100000" kx="0" ky="0" algn="bl" rotWithShape="0" blurRad="76200" dist="25400" dir="5400000">
              <a:srgbClr val="000000">
                <a:alpha val="10000"/>
              </a:srgbClr>
            </a:outerShdw>
          </a:effectLst>
        </p:spPr>
      </p:sp>
      <p:sp>
        <p:nvSpPr>
          <p:cNvPr id="32" name="Shape 30"/>
          <p:cNvSpPr/>
          <p:nvPr/>
        </p:nvSpPr>
        <p:spPr>
          <a:xfrm>
            <a:off x="6537960" y="2377440"/>
            <a:ext cx="548640" cy="548640"/>
          </a:xfrm>
          <a:prstGeom prst="ellipse">
            <a:avLst/>
          </a:prstGeom>
          <a:solidFill>
            <a:srgbClr val="2F3C7E"/>
          </a:solidFill>
          <a:ln/>
        </p:spPr>
      </p:sp>
      <p:sp>
        <p:nvSpPr>
          <p:cNvPr id="33" name="Text 31"/>
          <p:cNvSpPr/>
          <p:nvPr/>
        </p:nvSpPr>
        <p:spPr>
          <a:xfrm>
            <a:off x="6537960" y="2377440"/>
            <a:ext cx="548640" cy="54864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34" name="Text 32"/>
          <p:cNvSpPr/>
          <p:nvPr/>
        </p:nvSpPr>
        <p:spPr>
          <a:xfrm>
            <a:off x="6537960" y="3017520"/>
            <a:ext cx="2194560" cy="365760"/>
          </a:xfrm>
          <a:prstGeom prst="rect">
            <a:avLst/>
          </a:prstGeom>
          <a:noFill/>
          <a:ln/>
        </p:spPr>
        <p:txBody>
          <a:bodyPr wrap="square" lIns="0" tIns="0" rIns="0" bIns="0" rtlCol="0" anchor="ctr"/>
          <a:lstStyle/>
          <a:p>
            <a:pPr indent="0" marL="0">
              <a:buNone/>
            </a:pPr>
            <a:r>
              <a:rPr lang="en-US" sz="1500" b="1" dirty="0">
                <a:solidFill>
                  <a:srgbClr val="2F3C7E"/>
                </a:solidFill>
                <a:latin typeface="Cambria" pitchFamily="34" charset="0"/>
                <a:ea typeface="Cambria" pitchFamily="34" charset="-122"/>
                <a:cs typeface="Cambria" pitchFamily="34" charset="-120"/>
              </a:rPr>
              <a:t>Outerwear</a:t>
            </a:r>
            <a:endParaRPr lang="en-US" sz="1500" dirty="0"/>
          </a:p>
        </p:txBody>
      </p:sp>
      <p:sp>
        <p:nvSpPr>
          <p:cNvPr id="35" name="Text 33"/>
          <p:cNvSpPr/>
          <p:nvPr/>
        </p:nvSpPr>
        <p:spPr>
          <a:xfrm>
            <a:off x="6537960" y="3520440"/>
            <a:ext cx="365760" cy="502920"/>
          </a:xfrm>
          <a:prstGeom prst="rect">
            <a:avLst/>
          </a:prstGeom>
          <a:noFill/>
          <a:ln/>
        </p:spPr>
        <p:txBody>
          <a:bodyPr wrap="square" lIns="0" tIns="0" rIns="0" bIns="0" rtlCol="0" anchor="ctr"/>
          <a:lstStyle/>
          <a:p>
            <a:pPr indent="0" marL="0">
              <a:buNone/>
            </a:pPr>
            <a:r>
              <a:rPr lang="en-US" sz="1300" b="1" dirty="0">
                <a:solidFill>
                  <a:srgbClr val="F96167"/>
                </a:solidFill>
                <a:latin typeface="Calibri" pitchFamily="34" charset="0"/>
                <a:ea typeface="Calibri" pitchFamily="34" charset="-122"/>
                <a:cs typeface="Calibri" pitchFamily="34" charset="-120"/>
              </a:rPr>
              <a:t>1</a:t>
            </a:r>
            <a:endParaRPr lang="en-US" sz="1300" dirty="0"/>
          </a:p>
        </p:txBody>
      </p:sp>
      <p:sp>
        <p:nvSpPr>
          <p:cNvPr id="36" name="Text 34"/>
          <p:cNvSpPr/>
          <p:nvPr/>
        </p:nvSpPr>
        <p:spPr>
          <a:xfrm>
            <a:off x="6903720" y="3520440"/>
            <a:ext cx="1280160" cy="502920"/>
          </a:xfrm>
          <a:prstGeom prst="rect">
            <a:avLst/>
          </a:prstGeom>
          <a:noFill/>
          <a:ln/>
        </p:spPr>
        <p:txBody>
          <a:bodyPr wrap="square" lIns="0" tIns="0" rIns="0" bIns="0" rtlCol="0" anchor="ctr"/>
          <a:lstStyle/>
          <a:p>
            <a:pPr indent="0" marL="0">
              <a:buNone/>
            </a:pPr>
            <a:r>
              <a:rPr lang="en-US" sz="1250" dirty="0">
                <a:solidFill>
                  <a:srgbClr val="2B2B33"/>
                </a:solidFill>
                <a:latin typeface="Calibri" pitchFamily="34" charset="0"/>
                <a:ea typeface="Calibri" pitchFamily="34" charset="-122"/>
                <a:cs typeface="Calibri" pitchFamily="34" charset="-120"/>
              </a:rPr>
              <a:t>Jacket</a:t>
            </a:r>
            <a:endParaRPr lang="en-US" sz="1250" dirty="0"/>
          </a:p>
        </p:txBody>
      </p:sp>
      <p:sp>
        <p:nvSpPr>
          <p:cNvPr id="37" name="Text 35"/>
          <p:cNvSpPr/>
          <p:nvPr/>
        </p:nvSpPr>
        <p:spPr>
          <a:xfrm>
            <a:off x="8183880" y="3520440"/>
            <a:ext cx="594360" cy="502920"/>
          </a:xfrm>
          <a:prstGeom prst="rect">
            <a:avLst/>
          </a:prstGeom>
          <a:noFill/>
          <a:ln/>
        </p:spPr>
        <p:txBody>
          <a:bodyPr wrap="square" lIns="0" tIns="0" rIns="0" bIns="0" rtlCol="0" anchor="ctr"/>
          <a:lstStyle/>
          <a:p>
            <a:pPr algn="r" indent="0" marL="0">
              <a:buNone/>
            </a:pPr>
            <a:r>
              <a:rPr lang="en-US" sz="1150" dirty="0">
                <a:solidFill>
                  <a:srgbClr val="6B6E85"/>
                </a:solidFill>
                <a:latin typeface="Calibri" pitchFamily="34" charset="0"/>
                <a:ea typeface="Calibri" pitchFamily="34" charset="-122"/>
                <a:cs typeface="Calibri" pitchFamily="34" charset="-120"/>
              </a:rPr>
              <a:t>163</a:t>
            </a:r>
            <a:endParaRPr lang="en-US" sz="1150" dirty="0"/>
          </a:p>
        </p:txBody>
      </p:sp>
      <p:sp>
        <p:nvSpPr>
          <p:cNvPr id="38" name="Text 36"/>
          <p:cNvSpPr/>
          <p:nvPr/>
        </p:nvSpPr>
        <p:spPr>
          <a:xfrm>
            <a:off x="6537960" y="4087368"/>
            <a:ext cx="365760" cy="502920"/>
          </a:xfrm>
          <a:prstGeom prst="rect">
            <a:avLst/>
          </a:prstGeom>
          <a:noFill/>
          <a:ln/>
        </p:spPr>
        <p:txBody>
          <a:bodyPr wrap="square" lIns="0" tIns="0" rIns="0" bIns="0" rtlCol="0" anchor="ctr"/>
          <a:lstStyle/>
          <a:p>
            <a:pPr indent="0" marL="0">
              <a:buNone/>
            </a:pPr>
            <a:r>
              <a:rPr lang="en-US" sz="1300" b="1" dirty="0">
                <a:solidFill>
                  <a:srgbClr val="F96167"/>
                </a:solidFill>
                <a:latin typeface="Calibri" pitchFamily="34" charset="0"/>
                <a:ea typeface="Calibri" pitchFamily="34" charset="-122"/>
                <a:cs typeface="Calibri" pitchFamily="34" charset="-120"/>
              </a:rPr>
              <a:t>2</a:t>
            </a:r>
            <a:endParaRPr lang="en-US" sz="1300" dirty="0"/>
          </a:p>
        </p:txBody>
      </p:sp>
      <p:sp>
        <p:nvSpPr>
          <p:cNvPr id="39" name="Text 37"/>
          <p:cNvSpPr/>
          <p:nvPr/>
        </p:nvSpPr>
        <p:spPr>
          <a:xfrm>
            <a:off x="6903720" y="4087368"/>
            <a:ext cx="1280160" cy="502920"/>
          </a:xfrm>
          <a:prstGeom prst="rect">
            <a:avLst/>
          </a:prstGeom>
          <a:noFill/>
          <a:ln/>
        </p:spPr>
        <p:txBody>
          <a:bodyPr wrap="square" lIns="0" tIns="0" rIns="0" bIns="0" rtlCol="0" anchor="ctr"/>
          <a:lstStyle/>
          <a:p>
            <a:pPr indent="0" marL="0">
              <a:buNone/>
            </a:pPr>
            <a:r>
              <a:rPr lang="en-US" sz="1250" dirty="0">
                <a:solidFill>
                  <a:srgbClr val="2B2B33"/>
                </a:solidFill>
                <a:latin typeface="Calibri" pitchFamily="34" charset="0"/>
                <a:ea typeface="Calibri" pitchFamily="34" charset="-122"/>
                <a:cs typeface="Calibri" pitchFamily="34" charset="-120"/>
              </a:rPr>
              <a:t>Coat</a:t>
            </a:r>
            <a:endParaRPr lang="en-US" sz="1250" dirty="0"/>
          </a:p>
        </p:txBody>
      </p:sp>
      <p:sp>
        <p:nvSpPr>
          <p:cNvPr id="40" name="Text 38"/>
          <p:cNvSpPr/>
          <p:nvPr/>
        </p:nvSpPr>
        <p:spPr>
          <a:xfrm>
            <a:off x="8183880" y="4087368"/>
            <a:ext cx="594360" cy="502920"/>
          </a:xfrm>
          <a:prstGeom prst="rect">
            <a:avLst/>
          </a:prstGeom>
          <a:noFill/>
          <a:ln/>
        </p:spPr>
        <p:txBody>
          <a:bodyPr wrap="square" lIns="0" tIns="0" rIns="0" bIns="0" rtlCol="0" anchor="ctr"/>
          <a:lstStyle/>
          <a:p>
            <a:pPr algn="r" indent="0" marL="0">
              <a:buNone/>
            </a:pPr>
            <a:r>
              <a:rPr lang="en-US" sz="1150" dirty="0">
                <a:solidFill>
                  <a:srgbClr val="6B6E85"/>
                </a:solidFill>
                <a:latin typeface="Calibri" pitchFamily="34" charset="0"/>
                <a:ea typeface="Calibri" pitchFamily="34" charset="-122"/>
                <a:cs typeface="Calibri" pitchFamily="34" charset="-120"/>
              </a:rPr>
              <a:t>161</a:t>
            </a:r>
            <a:endParaRPr lang="en-US" sz="1150" dirty="0"/>
          </a:p>
        </p:txBody>
      </p:sp>
      <p:sp>
        <p:nvSpPr>
          <p:cNvPr id="41" name="Shape 39"/>
          <p:cNvSpPr/>
          <p:nvPr/>
        </p:nvSpPr>
        <p:spPr>
          <a:xfrm>
            <a:off x="9189720" y="2103120"/>
            <a:ext cx="2651760" cy="4114800"/>
          </a:xfrm>
          <a:prstGeom prst="roundRect">
            <a:avLst>
              <a:gd name="adj" fmla="val 4138"/>
            </a:avLst>
          </a:prstGeom>
          <a:solidFill>
            <a:srgbClr val="F7F7FA"/>
          </a:solidFill>
          <a:ln/>
          <a:effectLst>
            <a:outerShdw sx="100000" sy="100000" kx="0" ky="0" algn="bl" rotWithShape="0" blurRad="76200" dist="25400" dir="5400000">
              <a:srgbClr val="000000">
                <a:alpha val="10000"/>
              </a:srgbClr>
            </a:outerShdw>
          </a:effectLst>
        </p:spPr>
      </p:sp>
      <p:sp>
        <p:nvSpPr>
          <p:cNvPr id="42" name="Shape 40"/>
          <p:cNvSpPr/>
          <p:nvPr/>
        </p:nvSpPr>
        <p:spPr>
          <a:xfrm>
            <a:off x="9418320" y="2377440"/>
            <a:ext cx="548640" cy="548640"/>
          </a:xfrm>
          <a:prstGeom prst="ellipse">
            <a:avLst/>
          </a:prstGeom>
          <a:solidFill>
            <a:srgbClr val="2F3C7E"/>
          </a:solidFill>
          <a:ln/>
        </p:spPr>
      </p:sp>
      <p:sp>
        <p:nvSpPr>
          <p:cNvPr id="43" name="Text 41"/>
          <p:cNvSpPr/>
          <p:nvPr/>
        </p:nvSpPr>
        <p:spPr>
          <a:xfrm>
            <a:off x="9418320" y="2377440"/>
            <a:ext cx="548640" cy="54864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44" name="Text 42"/>
          <p:cNvSpPr/>
          <p:nvPr/>
        </p:nvSpPr>
        <p:spPr>
          <a:xfrm>
            <a:off x="9418320" y="3017520"/>
            <a:ext cx="2194560" cy="365760"/>
          </a:xfrm>
          <a:prstGeom prst="rect">
            <a:avLst/>
          </a:prstGeom>
          <a:noFill/>
          <a:ln/>
        </p:spPr>
        <p:txBody>
          <a:bodyPr wrap="square" lIns="0" tIns="0" rIns="0" bIns="0" rtlCol="0" anchor="ctr"/>
          <a:lstStyle/>
          <a:p>
            <a:pPr indent="0" marL="0">
              <a:buNone/>
            </a:pPr>
            <a:r>
              <a:rPr lang="en-US" sz="1500" b="1" dirty="0">
                <a:solidFill>
                  <a:srgbClr val="2F3C7E"/>
                </a:solidFill>
                <a:latin typeface="Cambria" pitchFamily="34" charset="0"/>
                <a:ea typeface="Cambria" pitchFamily="34" charset="-122"/>
                <a:cs typeface="Cambria" pitchFamily="34" charset="-120"/>
              </a:rPr>
              <a:t>Footwear</a:t>
            </a:r>
            <a:endParaRPr lang="en-US" sz="1500" dirty="0"/>
          </a:p>
        </p:txBody>
      </p:sp>
      <p:sp>
        <p:nvSpPr>
          <p:cNvPr id="45" name="Text 43"/>
          <p:cNvSpPr/>
          <p:nvPr/>
        </p:nvSpPr>
        <p:spPr>
          <a:xfrm>
            <a:off x="9418320" y="3520440"/>
            <a:ext cx="365760" cy="502920"/>
          </a:xfrm>
          <a:prstGeom prst="rect">
            <a:avLst/>
          </a:prstGeom>
          <a:noFill/>
          <a:ln/>
        </p:spPr>
        <p:txBody>
          <a:bodyPr wrap="square" lIns="0" tIns="0" rIns="0" bIns="0" rtlCol="0" anchor="ctr"/>
          <a:lstStyle/>
          <a:p>
            <a:pPr indent="0" marL="0">
              <a:buNone/>
            </a:pPr>
            <a:r>
              <a:rPr lang="en-US" sz="1300" b="1" dirty="0">
                <a:solidFill>
                  <a:srgbClr val="F96167"/>
                </a:solidFill>
                <a:latin typeface="Calibri" pitchFamily="34" charset="0"/>
                <a:ea typeface="Calibri" pitchFamily="34" charset="-122"/>
                <a:cs typeface="Calibri" pitchFamily="34" charset="-120"/>
              </a:rPr>
              <a:t>1</a:t>
            </a:r>
            <a:endParaRPr lang="en-US" sz="1300" dirty="0"/>
          </a:p>
        </p:txBody>
      </p:sp>
      <p:sp>
        <p:nvSpPr>
          <p:cNvPr id="46" name="Text 44"/>
          <p:cNvSpPr/>
          <p:nvPr/>
        </p:nvSpPr>
        <p:spPr>
          <a:xfrm>
            <a:off x="9784080" y="3520440"/>
            <a:ext cx="1280160" cy="502920"/>
          </a:xfrm>
          <a:prstGeom prst="rect">
            <a:avLst/>
          </a:prstGeom>
          <a:noFill/>
          <a:ln/>
        </p:spPr>
        <p:txBody>
          <a:bodyPr wrap="square" lIns="0" tIns="0" rIns="0" bIns="0" rtlCol="0" anchor="ctr"/>
          <a:lstStyle/>
          <a:p>
            <a:pPr indent="0" marL="0">
              <a:buNone/>
            </a:pPr>
            <a:r>
              <a:rPr lang="en-US" sz="1250" dirty="0">
                <a:solidFill>
                  <a:srgbClr val="2B2B33"/>
                </a:solidFill>
                <a:latin typeface="Calibri" pitchFamily="34" charset="0"/>
                <a:ea typeface="Calibri" pitchFamily="34" charset="-122"/>
                <a:cs typeface="Calibri" pitchFamily="34" charset="-120"/>
              </a:rPr>
              <a:t>Sandals</a:t>
            </a:r>
            <a:endParaRPr lang="en-US" sz="1250" dirty="0"/>
          </a:p>
        </p:txBody>
      </p:sp>
      <p:sp>
        <p:nvSpPr>
          <p:cNvPr id="47" name="Text 45"/>
          <p:cNvSpPr/>
          <p:nvPr/>
        </p:nvSpPr>
        <p:spPr>
          <a:xfrm>
            <a:off x="11064240" y="3520440"/>
            <a:ext cx="594360" cy="502920"/>
          </a:xfrm>
          <a:prstGeom prst="rect">
            <a:avLst/>
          </a:prstGeom>
          <a:noFill/>
          <a:ln/>
        </p:spPr>
        <p:txBody>
          <a:bodyPr wrap="square" lIns="0" tIns="0" rIns="0" bIns="0" rtlCol="0" anchor="ctr"/>
          <a:lstStyle/>
          <a:p>
            <a:pPr algn="r" indent="0" marL="0">
              <a:buNone/>
            </a:pPr>
            <a:r>
              <a:rPr lang="en-US" sz="1150" dirty="0">
                <a:solidFill>
                  <a:srgbClr val="6B6E85"/>
                </a:solidFill>
                <a:latin typeface="Calibri" pitchFamily="34" charset="0"/>
                <a:ea typeface="Calibri" pitchFamily="34" charset="-122"/>
                <a:cs typeface="Calibri" pitchFamily="34" charset="-120"/>
              </a:rPr>
              <a:t>160</a:t>
            </a:r>
            <a:endParaRPr lang="en-US" sz="1150" dirty="0"/>
          </a:p>
        </p:txBody>
      </p:sp>
      <p:sp>
        <p:nvSpPr>
          <p:cNvPr id="48" name="Text 46"/>
          <p:cNvSpPr/>
          <p:nvPr/>
        </p:nvSpPr>
        <p:spPr>
          <a:xfrm>
            <a:off x="9418320" y="4087368"/>
            <a:ext cx="365760" cy="502920"/>
          </a:xfrm>
          <a:prstGeom prst="rect">
            <a:avLst/>
          </a:prstGeom>
          <a:noFill/>
          <a:ln/>
        </p:spPr>
        <p:txBody>
          <a:bodyPr wrap="square" lIns="0" tIns="0" rIns="0" bIns="0" rtlCol="0" anchor="ctr"/>
          <a:lstStyle/>
          <a:p>
            <a:pPr indent="0" marL="0">
              <a:buNone/>
            </a:pPr>
            <a:r>
              <a:rPr lang="en-US" sz="1300" b="1" dirty="0">
                <a:solidFill>
                  <a:srgbClr val="F96167"/>
                </a:solidFill>
                <a:latin typeface="Calibri" pitchFamily="34" charset="0"/>
                <a:ea typeface="Calibri" pitchFamily="34" charset="-122"/>
                <a:cs typeface="Calibri" pitchFamily="34" charset="-120"/>
              </a:rPr>
              <a:t>2</a:t>
            </a:r>
            <a:endParaRPr lang="en-US" sz="1300" dirty="0"/>
          </a:p>
        </p:txBody>
      </p:sp>
      <p:sp>
        <p:nvSpPr>
          <p:cNvPr id="49" name="Text 47"/>
          <p:cNvSpPr/>
          <p:nvPr/>
        </p:nvSpPr>
        <p:spPr>
          <a:xfrm>
            <a:off x="9784080" y="4087368"/>
            <a:ext cx="1280160" cy="502920"/>
          </a:xfrm>
          <a:prstGeom prst="rect">
            <a:avLst/>
          </a:prstGeom>
          <a:noFill/>
          <a:ln/>
        </p:spPr>
        <p:txBody>
          <a:bodyPr wrap="square" lIns="0" tIns="0" rIns="0" bIns="0" rtlCol="0" anchor="ctr"/>
          <a:lstStyle/>
          <a:p>
            <a:pPr indent="0" marL="0">
              <a:buNone/>
            </a:pPr>
            <a:r>
              <a:rPr lang="en-US" sz="1250" dirty="0">
                <a:solidFill>
                  <a:srgbClr val="2B2B33"/>
                </a:solidFill>
                <a:latin typeface="Calibri" pitchFamily="34" charset="0"/>
                <a:ea typeface="Calibri" pitchFamily="34" charset="-122"/>
                <a:cs typeface="Calibri" pitchFamily="34" charset="-120"/>
              </a:rPr>
              <a:t>Shoes</a:t>
            </a:r>
            <a:endParaRPr lang="en-US" sz="1250" dirty="0"/>
          </a:p>
        </p:txBody>
      </p:sp>
      <p:sp>
        <p:nvSpPr>
          <p:cNvPr id="50" name="Text 48"/>
          <p:cNvSpPr/>
          <p:nvPr/>
        </p:nvSpPr>
        <p:spPr>
          <a:xfrm>
            <a:off x="11064240" y="4087368"/>
            <a:ext cx="594360" cy="502920"/>
          </a:xfrm>
          <a:prstGeom prst="rect">
            <a:avLst/>
          </a:prstGeom>
          <a:noFill/>
          <a:ln/>
        </p:spPr>
        <p:txBody>
          <a:bodyPr wrap="square" lIns="0" tIns="0" rIns="0" bIns="0" rtlCol="0" anchor="ctr"/>
          <a:lstStyle/>
          <a:p>
            <a:pPr algn="r" indent="0" marL="0">
              <a:buNone/>
            </a:pPr>
            <a:r>
              <a:rPr lang="en-US" sz="1150" dirty="0">
                <a:solidFill>
                  <a:srgbClr val="6B6E85"/>
                </a:solidFill>
                <a:latin typeface="Calibri" pitchFamily="34" charset="0"/>
                <a:ea typeface="Calibri" pitchFamily="34" charset="-122"/>
                <a:cs typeface="Calibri" pitchFamily="34" charset="-120"/>
              </a:rPr>
              <a:t>150</a:t>
            </a:r>
            <a:endParaRPr lang="en-US" sz="1150" dirty="0"/>
          </a:p>
        </p:txBody>
      </p:sp>
      <p:sp>
        <p:nvSpPr>
          <p:cNvPr id="51" name="Text 49"/>
          <p:cNvSpPr/>
          <p:nvPr/>
        </p:nvSpPr>
        <p:spPr>
          <a:xfrm>
            <a:off x="9418320" y="4654296"/>
            <a:ext cx="365760" cy="502920"/>
          </a:xfrm>
          <a:prstGeom prst="rect">
            <a:avLst/>
          </a:prstGeom>
          <a:noFill/>
          <a:ln/>
        </p:spPr>
        <p:txBody>
          <a:bodyPr wrap="square" lIns="0" tIns="0" rIns="0" bIns="0" rtlCol="0" anchor="ctr"/>
          <a:lstStyle/>
          <a:p>
            <a:pPr indent="0" marL="0">
              <a:buNone/>
            </a:pPr>
            <a:r>
              <a:rPr lang="en-US" sz="1300" b="1" dirty="0">
                <a:solidFill>
                  <a:srgbClr val="F96167"/>
                </a:solidFill>
                <a:latin typeface="Calibri" pitchFamily="34" charset="0"/>
                <a:ea typeface="Calibri" pitchFamily="34" charset="-122"/>
                <a:cs typeface="Calibri" pitchFamily="34" charset="-120"/>
              </a:rPr>
              <a:t>3</a:t>
            </a:r>
            <a:endParaRPr lang="en-US" sz="1300" dirty="0"/>
          </a:p>
        </p:txBody>
      </p:sp>
      <p:sp>
        <p:nvSpPr>
          <p:cNvPr id="52" name="Text 50"/>
          <p:cNvSpPr/>
          <p:nvPr/>
        </p:nvSpPr>
        <p:spPr>
          <a:xfrm>
            <a:off x="9784080" y="4654296"/>
            <a:ext cx="1280160" cy="502920"/>
          </a:xfrm>
          <a:prstGeom prst="rect">
            <a:avLst/>
          </a:prstGeom>
          <a:noFill/>
          <a:ln/>
        </p:spPr>
        <p:txBody>
          <a:bodyPr wrap="square" lIns="0" tIns="0" rIns="0" bIns="0" rtlCol="0" anchor="ctr"/>
          <a:lstStyle/>
          <a:p>
            <a:pPr indent="0" marL="0">
              <a:buNone/>
            </a:pPr>
            <a:r>
              <a:rPr lang="en-US" sz="1250" dirty="0">
                <a:solidFill>
                  <a:srgbClr val="2B2B33"/>
                </a:solidFill>
                <a:latin typeface="Calibri" pitchFamily="34" charset="0"/>
                <a:ea typeface="Calibri" pitchFamily="34" charset="-122"/>
                <a:cs typeface="Calibri" pitchFamily="34" charset="-120"/>
              </a:rPr>
              <a:t>Sneakers</a:t>
            </a:r>
            <a:endParaRPr lang="en-US" sz="1250" dirty="0"/>
          </a:p>
        </p:txBody>
      </p:sp>
      <p:sp>
        <p:nvSpPr>
          <p:cNvPr id="53" name="Text 51"/>
          <p:cNvSpPr/>
          <p:nvPr/>
        </p:nvSpPr>
        <p:spPr>
          <a:xfrm>
            <a:off x="11064240" y="4654296"/>
            <a:ext cx="594360" cy="502920"/>
          </a:xfrm>
          <a:prstGeom prst="rect">
            <a:avLst/>
          </a:prstGeom>
          <a:noFill/>
          <a:ln/>
        </p:spPr>
        <p:txBody>
          <a:bodyPr wrap="square" lIns="0" tIns="0" rIns="0" bIns="0" rtlCol="0" anchor="ctr"/>
          <a:lstStyle/>
          <a:p>
            <a:pPr algn="r" indent="0" marL="0">
              <a:buNone/>
            </a:pPr>
            <a:r>
              <a:rPr lang="en-US" sz="1150" dirty="0">
                <a:solidFill>
                  <a:srgbClr val="6B6E85"/>
                </a:solidFill>
                <a:latin typeface="Calibri" pitchFamily="34" charset="0"/>
                <a:ea typeface="Calibri" pitchFamily="34" charset="-122"/>
                <a:cs typeface="Calibri" pitchFamily="34" charset="-120"/>
              </a:rPr>
              <a:t>145</a:t>
            </a:r>
            <a:endParaRPr lang="en-US" sz="1150" dirty="0"/>
          </a:p>
        </p:txBody>
      </p:sp>
      <p:sp>
        <p:nvSpPr>
          <p:cNvPr id="54" name="Text 52"/>
          <p:cNvSpPr/>
          <p:nvPr/>
        </p:nvSpPr>
        <p:spPr>
          <a:xfrm>
            <a:off x="457200" y="6519672"/>
            <a:ext cx="7315200" cy="274320"/>
          </a:xfrm>
          <a:prstGeom prst="rect">
            <a:avLst/>
          </a:prstGeom>
          <a:noFill/>
          <a:ln/>
        </p:spPr>
        <p:txBody>
          <a:bodyPr wrap="square" lIns="0" tIns="0" rIns="0" bIns="0" rtlCol="0" anchor="ctr"/>
          <a:lstStyle/>
          <a:p>
            <a:pPr indent="0" marL="0">
              <a:buNone/>
            </a:pPr>
            <a:r>
              <a:rPr lang="en-US" sz="900" i="1" dirty="0">
                <a:solidFill>
                  <a:srgbClr val="6B6E85"/>
                </a:solidFill>
                <a:latin typeface="Calibri" pitchFamily="34" charset="0"/>
                <a:ea typeface="Calibri" pitchFamily="34" charset="-122"/>
                <a:cs typeface="Calibri" pitchFamily="34" charset="-120"/>
              </a:rPr>
              <a:t>Customer Shopping Behavior Analysis</a:t>
            </a:r>
            <a:endParaRPr lang="en-US" sz="900" dirty="0"/>
          </a:p>
        </p:txBody>
      </p:sp>
      <p:sp>
        <p:nvSpPr>
          <p:cNvPr id="55" name="Text 53"/>
          <p:cNvSpPr/>
          <p:nvPr/>
        </p:nvSpPr>
        <p:spPr>
          <a:xfrm>
            <a:off x="11274552" y="6519672"/>
            <a:ext cx="457200" cy="274320"/>
          </a:xfrm>
          <a:prstGeom prst="rect">
            <a:avLst/>
          </a:prstGeom>
          <a:noFill/>
          <a:ln/>
        </p:spPr>
        <p:txBody>
          <a:bodyPr wrap="square" lIns="0" tIns="0" rIns="0" bIns="0" rtlCol="0" anchor="ctr"/>
          <a:lstStyle/>
          <a:p>
            <a:pPr algn="r" indent="0" marL="0">
              <a:buNone/>
            </a:pPr>
            <a:r>
              <a:rPr lang="en-US" sz="900" dirty="0">
                <a:solidFill>
                  <a:srgbClr val="6B6E85"/>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9144000" cy="640080"/>
          </a:xfrm>
          <a:prstGeom prst="rect">
            <a:avLst/>
          </a:prstGeom>
          <a:noFill/>
          <a:ln/>
        </p:spPr>
        <p:txBody>
          <a:bodyPr wrap="square" lIns="0" tIns="0" rIns="0" bIns="0" rtlCol="0" anchor="ctr"/>
          <a:lstStyle/>
          <a:p>
            <a:pPr algn="l" indent="0" marL="0">
              <a:buNone/>
            </a:pPr>
            <a:r>
              <a:rPr lang="en-US" sz="3000" b="1" dirty="0">
                <a:solidFill>
                  <a:srgbClr val="2F3C7E"/>
                </a:solidFill>
                <a:latin typeface="Cambria" pitchFamily="34" charset="0"/>
                <a:ea typeface="Cambria" pitchFamily="34" charset="-122"/>
                <a:cs typeface="Cambria" pitchFamily="34" charset="-120"/>
              </a:rPr>
              <a:t>Business Recommendations</a:t>
            </a:r>
            <a:endParaRPr lang="en-US" sz="3000" dirty="0"/>
          </a:p>
        </p:txBody>
      </p:sp>
      <p:sp>
        <p:nvSpPr>
          <p:cNvPr id="3" name="Shape 1"/>
          <p:cNvSpPr/>
          <p:nvPr/>
        </p:nvSpPr>
        <p:spPr>
          <a:xfrm>
            <a:off x="548640" y="1143000"/>
            <a:ext cx="1280160" cy="54864"/>
          </a:xfrm>
          <a:prstGeom prst="rect">
            <a:avLst/>
          </a:prstGeom>
          <a:solidFill>
            <a:srgbClr val="F96167"/>
          </a:solidFill>
          <a:ln/>
        </p:spPr>
      </p:sp>
      <p:sp>
        <p:nvSpPr>
          <p:cNvPr id="4" name="Shape 2"/>
          <p:cNvSpPr/>
          <p:nvPr/>
        </p:nvSpPr>
        <p:spPr>
          <a:xfrm>
            <a:off x="548640" y="1600200"/>
            <a:ext cx="3520440" cy="2194560"/>
          </a:xfrm>
          <a:prstGeom prst="roundRect">
            <a:avLst>
              <a:gd name="adj" fmla="val 5000"/>
            </a:avLst>
          </a:prstGeom>
          <a:solidFill>
            <a:srgbClr val="F7F7FA"/>
          </a:solidFill>
          <a:ln/>
          <a:effectLst>
            <a:outerShdw sx="100000" sy="100000" kx="0" ky="0" algn="bl" rotWithShape="0" blurRad="76200" dist="25400" dir="5400000">
              <a:srgbClr val="000000">
                <a:alpha val="10000"/>
              </a:srgbClr>
            </a:outerShdw>
          </a:effectLst>
        </p:spPr>
      </p:sp>
      <p:sp>
        <p:nvSpPr>
          <p:cNvPr id="5" name="Shape 3"/>
          <p:cNvSpPr/>
          <p:nvPr/>
        </p:nvSpPr>
        <p:spPr>
          <a:xfrm>
            <a:off x="822960" y="1874520"/>
            <a:ext cx="548640" cy="548640"/>
          </a:xfrm>
          <a:prstGeom prst="ellipse">
            <a:avLst/>
          </a:prstGeom>
          <a:solidFill>
            <a:srgbClr val="F96167"/>
          </a:solidFill>
          <a:ln/>
        </p:spPr>
      </p:sp>
      <p:sp>
        <p:nvSpPr>
          <p:cNvPr id="6" name="Text 4"/>
          <p:cNvSpPr/>
          <p:nvPr/>
        </p:nvSpPr>
        <p:spPr>
          <a:xfrm>
            <a:off x="822960" y="1874520"/>
            <a:ext cx="548640" cy="54864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7" name="Text 5"/>
          <p:cNvSpPr/>
          <p:nvPr/>
        </p:nvSpPr>
        <p:spPr>
          <a:xfrm>
            <a:off x="822960" y="2514600"/>
            <a:ext cx="2971800" cy="365760"/>
          </a:xfrm>
          <a:prstGeom prst="rect">
            <a:avLst/>
          </a:prstGeom>
          <a:noFill/>
          <a:ln/>
        </p:spPr>
        <p:txBody>
          <a:bodyPr wrap="square" lIns="0" tIns="0" rIns="0" bIns="0" rtlCol="0" anchor="ctr"/>
          <a:lstStyle/>
          <a:p>
            <a:pPr indent="0" marL="0">
              <a:buNone/>
            </a:pPr>
            <a:r>
              <a:rPr lang="en-US" sz="1450" b="1" dirty="0">
                <a:solidFill>
                  <a:srgbClr val="2F3C7E"/>
                </a:solidFill>
                <a:latin typeface="Cambria" pitchFamily="34" charset="0"/>
                <a:ea typeface="Cambria" pitchFamily="34" charset="-122"/>
                <a:cs typeface="Cambria" pitchFamily="34" charset="-120"/>
              </a:rPr>
              <a:t>Boost Subscriptions</a:t>
            </a:r>
            <a:endParaRPr lang="en-US" sz="1450" dirty="0"/>
          </a:p>
        </p:txBody>
      </p:sp>
      <p:sp>
        <p:nvSpPr>
          <p:cNvPr id="8" name="Text 6"/>
          <p:cNvSpPr/>
          <p:nvPr/>
        </p:nvSpPr>
        <p:spPr>
          <a:xfrm>
            <a:off x="822960" y="2880360"/>
            <a:ext cx="2971800" cy="822960"/>
          </a:xfrm>
          <a:prstGeom prst="rect">
            <a:avLst/>
          </a:prstGeom>
          <a:noFill/>
          <a:ln/>
        </p:spPr>
        <p:txBody>
          <a:bodyPr wrap="square" lIns="0" tIns="0" rIns="0" bIns="0" rtlCol="0" anchor="t"/>
          <a:lstStyle/>
          <a:p>
            <a:pPr indent="0" marL="0">
              <a:lnSpc>
                <a:spcPct val="125000"/>
              </a:lnSpc>
              <a:buNone/>
            </a:pPr>
            <a:r>
              <a:rPr lang="en-US" sz="1100" dirty="0">
                <a:solidFill>
                  <a:srgbClr val="6B6E85"/>
                </a:solidFill>
                <a:latin typeface="Calibri" pitchFamily="34" charset="0"/>
                <a:ea typeface="Calibri" pitchFamily="34" charset="-122"/>
                <a:cs typeface="Calibri" pitchFamily="34" charset="-120"/>
              </a:rPr>
              <a:t>Promote exclusive benefits for subscribers to grow the current 27% subscriber base.</a:t>
            </a:r>
            <a:endParaRPr lang="en-US" sz="1100" dirty="0"/>
          </a:p>
        </p:txBody>
      </p:sp>
      <p:sp>
        <p:nvSpPr>
          <p:cNvPr id="9" name="Shape 7"/>
          <p:cNvSpPr/>
          <p:nvPr/>
        </p:nvSpPr>
        <p:spPr>
          <a:xfrm>
            <a:off x="4343400" y="1600200"/>
            <a:ext cx="3520440" cy="2194560"/>
          </a:xfrm>
          <a:prstGeom prst="roundRect">
            <a:avLst>
              <a:gd name="adj" fmla="val 5000"/>
            </a:avLst>
          </a:prstGeom>
          <a:solidFill>
            <a:srgbClr val="F7F7FA"/>
          </a:solidFill>
          <a:ln/>
          <a:effectLst>
            <a:outerShdw sx="100000" sy="100000" kx="0" ky="0" algn="bl" rotWithShape="0" blurRad="76200" dist="25400" dir="5400000">
              <a:srgbClr val="000000">
                <a:alpha val="10000"/>
              </a:srgbClr>
            </a:outerShdw>
          </a:effectLst>
        </p:spPr>
      </p:sp>
      <p:sp>
        <p:nvSpPr>
          <p:cNvPr id="10" name="Shape 8"/>
          <p:cNvSpPr/>
          <p:nvPr/>
        </p:nvSpPr>
        <p:spPr>
          <a:xfrm>
            <a:off x="4617720" y="1874520"/>
            <a:ext cx="548640" cy="548640"/>
          </a:xfrm>
          <a:prstGeom prst="ellipse">
            <a:avLst/>
          </a:prstGeom>
          <a:solidFill>
            <a:srgbClr val="F96167"/>
          </a:solidFill>
          <a:ln/>
        </p:spPr>
      </p:sp>
      <p:sp>
        <p:nvSpPr>
          <p:cNvPr id="11" name="Text 9"/>
          <p:cNvSpPr/>
          <p:nvPr/>
        </p:nvSpPr>
        <p:spPr>
          <a:xfrm>
            <a:off x="4617720" y="1874520"/>
            <a:ext cx="548640" cy="54864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2" name="Text 10"/>
          <p:cNvSpPr/>
          <p:nvPr/>
        </p:nvSpPr>
        <p:spPr>
          <a:xfrm>
            <a:off x="4617720" y="2514600"/>
            <a:ext cx="2971800" cy="365760"/>
          </a:xfrm>
          <a:prstGeom prst="rect">
            <a:avLst/>
          </a:prstGeom>
          <a:noFill/>
          <a:ln/>
        </p:spPr>
        <p:txBody>
          <a:bodyPr wrap="square" lIns="0" tIns="0" rIns="0" bIns="0" rtlCol="0" anchor="ctr"/>
          <a:lstStyle/>
          <a:p>
            <a:pPr indent="0" marL="0">
              <a:buNone/>
            </a:pPr>
            <a:r>
              <a:rPr lang="en-US" sz="1450" b="1" dirty="0">
                <a:solidFill>
                  <a:srgbClr val="2F3C7E"/>
                </a:solidFill>
                <a:latin typeface="Cambria" pitchFamily="34" charset="0"/>
                <a:ea typeface="Cambria" pitchFamily="34" charset="-122"/>
                <a:cs typeface="Cambria" pitchFamily="34" charset="-120"/>
              </a:rPr>
              <a:t>Customer Loyalty Programs</a:t>
            </a:r>
            <a:endParaRPr lang="en-US" sz="1450" dirty="0"/>
          </a:p>
        </p:txBody>
      </p:sp>
      <p:sp>
        <p:nvSpPr>
          <p:cNvPr id="13" name="Text 11"/>
          <p:cNvSpPr/>
          <p:nvPr/>
        </p:nvSpPr>
        <p:spPr>
          <a:xfrm>
            <a:off x="4617720" y="2880360"/>
            <a:ext cx="2971800" cy="822960"/>
          </a:xfrm>
          <a:prstGeom prst="rect">
            <a:avLst/>
          </a:prstGeom>
          <a:noFill/>
          <a:ln/>
        </p:spPr>
        <p:txBody>
          <a:bodyPr wrap="square" lIns="0" tIns="0" rIns="0" bIns="0" rtlCol="0" anchor="t"/>
          <a:lstStyle/>
          <a:p>
            <a:pPr indent="0" marL="0">
              <a:lnSpc>
                <a:spcPct val="125000"/>
              </a:lnSpc>
              <a:buNone/>
            </a:pPr>
            <a:r>
              <a:rPr lang="en-US" sz="1100" dirty="0">
                <a:solidFill>
                  <a:srgbClr val="6B6E85"/>
                </a:solidFill>
                <a:latin typeface="Calibri" pitchFamily="34" charset="0"/>
                <a:ea typeface="Calibri" pitchFamily="34" charset="-122"/>
                <a:cs typeface="Calibri" pitchFamily="34" charset="-120"/>
              </a:rPr>
              <a:t>Reward repeat buyers to move Returning customers into the Loyal segment.</a:t>
            </a:r>
            <a:endParaRPr lang="en-US" sz="1100" dirty="0"/>
          </a:p>
        </p:txBody>
      </p:sp>
      <p:sp>
        <p:nvSpPr>
          <p:cNvPr id="14" name="Shape 12"/>
          <p:cNvSpPr/>
          <p:nvPr/>
        </p:nvSpPr>
        <p:spPr>
          <a:xfrm>
            <a:off x="8138160" y="1600200"/>
            <a:ext cx="3520440" cy="2194560"/>
          </a:xfrm>
          <a:prstGeom prst="roundRect">
            <a:avLst>
              <a:gd name="adj" fmla="val 5000"/>
            </a:avLst>
          </a:prstGeom>
          <a:solidFill>
            <a:srgbClr val="F7F7FA"/>
          </a:solidFill>
          <a:ln/>
          <a:effectLst>
            <a:outerShdw sx="100000" sy="100000" kx="0" ky="0" algn="bl" rotWithShape="0" blurRad="76200" dist="25400" dir="5400000">
              <a:srgbClr val="000000">
                <a:alpha val="10000"/>
              </a:srgbClr>
            </a:outerShdw>
          </a:effectLst>
        </p:spPr>
      </p:sp>
      <p:sp>
        <p:nvSpPr>
          <p:cNvPr id="15" name="Shape 13"/>
          <p:cNvSpPr/>
          <p:nvPr/>
        </p:nvSpPr>
        <p:spPr>
          <a:xfrm>
            <a:off x="8412480" y="1874520"/>
            <a:ext cx="548640" cy="548640"/>
          </a:xfrm>
          <a:prstGeom prst="ellipse">
            <a:avLst/>
          </a:prstGeom>
          <a:solidFill>
            <a:srgbClr val="F96167"/>
          </a:solidFill>
          <a:ln/>
        </p:spPr>
      </p:sp>
      <p:sp>
        <p:nvSpPr>
          <p:cNvPr id="16" name="Text 14"/>
          <p:cNvSpPr/>
          <p:nvPr/>
        </p:nvSpPr>
        <p:spPr>
          <a:xfrm>
            <a:off x="8412480" y="1874520"/>
            <a:ext cx="548640" cy="54864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7" name="Text 15"/>
          <p:cNvSpPr/>
          <p:nvPr/>
        </p:nvSpPr>
        <p:spPr>
          <a:xfrm>
            <a:off x="8412480" y="2514600"/>
            <a:ext cx="2971800" cy="365760"/>
          </a:xfrm>
          <a:prstGeom prst="rect">
            <a:avLst/>
          </a:prstGeom>
          <a:noFill/>
          <a:ln/>
        </p:spPr>
        <p:txBody>
          <a:bodyPr wrap="square" lIns="0" tIns="0" rIns="0" bIns="0" rtlCol="0" anchor="ctr"/>
          <a:lstStyle/>
          <a:p>
            <a:pPr indent="0" marL="0">
              <a:buNone/>
            </a:pPr>
            <a:r>
              <a:rPr lang="en-US" sz="1450" b="1" dirty="0">
                <a:solidFill>
                  <a:srgbClr val="2F3C7E"/>
                </a:solidFill>
                <a:latin typeface="Cambria" pitchFamily="34" charset="0"/>
                <a:ea typeface="Cambria" pitchFamily="34" charset="-122"/>
                <a:cs typeface="Cambria" pitchFamily="34" charset="-120"/>
              </a:rPr>
              <a:t>Review Discount Policy</a:t>
            </a:r>
            <a:endParaRPr lang="en-US" sz="1450" dirty="0"/>
          </a:p>
        </p:txBody>
      </p:sp>
      <p:sp>
        <p:nvSpPr>
          <p:cNvPr id="18" name="Text 16"/>
          <p:cNvSpPr/>
          <p:nvPr/>
        </p:nvSpPr>
        <p:spPr>
          <a:xfrm>
            <a:off x="8412480" y="2880360"/>
            <a:ext cx="2971800" cy="822960"/>
          </a:xfrm>
          <a:prstGeom prst="rect">
            <a:avLst/>
          </a:prstGeom>
          <a:noFill/>
          <a:ln/>
        </p:spPr>
        <p:txBody>
          <a:bodyPr wrap="square" lIns="0" tIns="0" rIns="0" bIns="0" rtlCol="0" anchor="t"/>
          <a:lstStyle/>
          <a:p>
            <a:pPr indent="0" marL="0">
              <a:lnSpc>
                <a:spcPct val="125000"/>
              </a:lnSpc>
              <a:buNone/>
            </a:pPr>
            <a:r>
              <a:rPr lang="en-US" sz="1100" dirty="0">
                <a:solidFill>
                  <a:srgbClr val="6B6E85"/>
                </a:solidFill>
                <a:latin typeface="Calibri" pitchFamily="34" charset="0"/>
                <a:ea typeface="Calibri" pitchFamily="34" charset="-122"/>
                <a:cs typeface="Calibri" pitchFamily="34" charset="-120"/>
              </a:rPr>
              <a:t>Balance sales boosts with margin control on discount-dependent items like Hats and Sneakers.</a:t>
            </a:r>
            <a:endParaRPr lang="en-US" sz="1100" dirty="0"/>
          </a:p>
        </p:txBody>
      </p:sp>
      <p:sp>
        <p:nvSpPr>
          <p:cNvPr id="19" name="Shape 17"/>
          <p:cNvSpPr/>
          <p:nvPr/>
        </p:nvSpPr>
        <p:spPr>
          <a:xfrm>
            <a:off x="2446020" y="3977640"/>
            <a:ext cx="3520440" cy="2194560"/>
          </a:xfrm>
          <a:prstGeom prst="roundRect">
            <a:avLst>
              <a:gd name="adj" fmla="val 5000"/>
            </a:avLst>
          </a:prstGeom>
          <a:solidFill>
            <a:srgbClr val="2F3C7E"/>
          </a:solidFill>
          <a:ln/>
          <a:effectLst>
            <a:outerShdw sx="100000" sy="100000" kx="0" ky="0" algn="bl" rotWithShape="0" blurRad="76200" dist="25400" dir="5400000">
              <a:srgbClr val="000000">
                <a:alpha val="10000"/>
              </a:srgbClr>
            </a:outerShdw>
          </a:effectLst>
        </p:spPr>
      </p:sp>
      <p:sp>
        <p:nvSpPr>
          <p:cNvPr id="20" name="Shape 18"/>
          <p:cNvSpPr/>
          <p:nvPr/>
        </p:nvSpPr>
        <p:spPr>
          <a:xfrm>
            <a:off x="2720340" y="4251960"/>
            <a:ext cx="548640" cy="548640"/>
          </a:xfrm>
          <a:prstGeom prst="ellipse">
            <a:avLst/>
          </a:prstGeom>
          <a:solidFill>
            <a:srgbClr val="F9E795"/>
          </a:solidFill>
          <a:ln/>
        </p:spPr>
      </p:sp>
      <p:sp>
        <p:nvSpPr>
          <p:cNvPr id="21" name="Text 19"/>
          <p:cNvSpPr/>
          <p:nvPr/>
        </p:nvSpPr>
        <p:spPr>
          <a:xfrm>
            <a:off x="2720340" y="4251960"/>
            <a:ext cx="548640" cy="54864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2" name="Text 20"/>
          <p:cNvSpPr/>
          <p:nvPr/>
        </p:nvSpPr>
        <p:spPr>
          <a:xfrm>
            <a:off x="2720340" y="4892040"/>
            <a:ext cx="2971800" cy="365760"/>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Product Positioning</a:t>
            </a:r>
            <a:endParaRPr lang="en-US" sz="1450" dirty="0"/>
          </a:p>
        </p:txBody>
      </p:sp>
      <p:sp>
        <p:nvSpPr>
          <p:cNvPr id="23" name="Text 21"/>
          <p:cNvSpPr/>
          <p:nvPr/>
        </p:nvSpPr>
        <p:spPr>
          <a:xfrm>
            <a:off x="2720340" y="5257800"/>
            <a:ext cx="2971800" cy="822960"/>
          </a:xfrm>
          <a:prstGeom prst="rect">
            <a:avLst/>
          </a:prstGeom>
          <a:noFill/>
          <a:ln/>
        </p:spPr>
        <p:txBody>
          <a:bodyPr wrap="square" lIns="0" tIns="0" rIns="0" bIns="0" rtlCol="0" anchor="t"/>
          <a:lstStyle/>
          <a:p>
            <a:pPr indent="0" marL="0">
              <a:lnSpc>
                <a:spcPct val="125000"/>
              </a:lnSpc>
              <a:buNone/>
            </a:pPr>
            <a:r>
              <a:rPr lang="en-US" sz="1100" dirty="0">
                <a:solidFill>
                  <a:srgbClr val="D8DCF4"/>
                </a:solidFill>
                <a:latin typeface="Calibri" pitchFamily="34" charset="0"/>
                <a:ea typeface="Calibri" pitchFamily="34" charset="-122"/>
                <a:cs typeface="Calibri" pitchFamily="34" charset="-120"/>
              </a:rPr>
              <a:t>Highlight top-rated and best-selling products — Gloves, Sandals, Jewelry — in campaigns.</a:t>
            </a:r>
            <a:endParaRPr lang="en-US" sz="1100" dirty="0"/>
          </a:p>
        </p:txBody>
      </p:sp>
      <p:sp>
        <p:nvSpPr>
          <p:cNvPr id="24" name="Shape 22"/>
          <p:cNvSpPr/>
          <p:nvPr/>
        </p:nvSpPr>
        <p:spPr>
          <a:xfrm>
            <a:off x="6240780" y="3977640"/>
            <a:ext cx="3520440" cy="2194560"/>
          </a:xfrm>
          <a:prstGeom prst="roundRect">
            <a:avLst>
              <a:gd name="adj" fmla="val 5000"/>
            </a:avLst>
          </a:prstGeom>
          <a:solidFill>
            <a:srgbClr val="2F3C7E"/>
          </a:solidFill>
          <a:ln/>
          <a:effectLst>
            <a:outerShdw sx="100000" sy="100000" kx="0" ky="0" algn="bl" rotWithShape="0" blurRad="76200" dist="25400" dir="5400000">
              <a:srgbClr val="000000">
                <a:alpha val="10000"/>
              </a:srgbClr>
            </a:outerShdw>
          </a:effectLst>
        </p:spPr>
      </p:sp>
      <p:sp>
        <p:nvSpPr>
          <p:cNvPr id="25" name="Shape 23"/>
          <p:cNvSpPr/>
          <p:nvPr/>
        </p:nvSpPr>
        <p:spPr>
          <a:xfrm>
            <a:off x="6515100" y="4251960"/>
            <a:ext cx="548640" cy="548640"/>
          </a:xfrm>
          <a:prstGeom prst="ellipse">
            <a:avLst/>
          </a:prstGeom>
          <a:solidFill>
            <a:srgbClr val="F9E795"/>
          </a:solidFill>
          <a:ln/>
        </p:spPr>
      </p:sp>
      <p:sp>
        <p:nvSpPr>
          <p:cNvPr id="26" name="Text 24"/>
          <p:cNvSpPr/>
          <p:nvPr/>
        </p:nvSpPr>
        <p:spPr>
          <a:xfrm>
            <a:off x="6515100" y="4251960"/>
            <a:ext cx="548640" cy="54864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7" name="Text 25"/>
          <p:cNvSpPr/>
          <p:nvPr/>
        </p:nvSpPr>
        <p:spPr>
          <a:xfrm>
            <a:off x="6515100" y="4892040"/>
            <a:ext cx="2971800" cy="365760"/>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Targeted Marketing</a:t>
            </a:r>
            <a:endParaRPr lang="en-US" sz="1450" dirty="0"/>
          </a:p>
        </p:txBody>
      </p:sp>
      <p:sp>
        <p:nvSpPr>
          <p:cNvPr id="28" name="Text 26"/>
          <p:cNvSpPr/>
          <p:nvPr/>
        </p:nvSpPr>
        <p:spPr>
          <a:xfrm>
            <a:off x="6515100" y="5257800"/>
            <a:ext cx="2971800" cy="822960"/>
          </a:xfrm>
          <a:prstGeom prst="rect">
            <a:avLst/>
          </a:prstGeom>
          <a:noFill/>
          <a:ln/>
        </p:spPr>
        <p:txBody>
          <a:bodyPr wrap="square" lIns="0" tIns="0" rIns="0" bIns="0" rtlCol="0" anchor="t"/>
          <a:lstStyle/>
          <a:p>
            <a:pPr indent="0" marL="0">
              <a:lnSpc>
                <a:spcPct val="125000"/>
              </a:lnSpc>
              <a:buNone/>
            </a:pPr>
            <a:r>
              <a:rPr lang="en-US" sz="1100" dirty="0">
                <a:solidFill>
                  <a:srgbClr val="D8DCF4"/>
                </a:solidFill>
                <a:latin typeface="Calibri" pitchFamily="34" charset="0"/>
                <a:ea typeface="Calibri" pitchFamily="34" charset="-122"/>
                <a:cs typeface="Calibri" pitchFamily="34" charset="-120"/>
              </a:rPr>
              <a:t>Focus efforts on high-revenue age groups (Young Adults) and Express-shipping users.</a:t>
            </a:r>
            <a:endParaRPr lang="en-US" sz="1100" dirty="0"/>
          </a:p>
        </p:txBody>
      </p:sp>
      <p:sp>
        <p:nvSpPr>
          <p:cNvPr id="29" name="Text 27"/>
          <p:cNvSpPr/>
          <p:nvPr/>
        </p:nvSpPr>
        <p:spPr>
          <a:xfrm>
            <a:off x="457200" y="6519672"/>
            <a:ext cx="7315200" cy="274320"/>
          </a:xfrm>
          <a:prstGeom prst="rect">
            <a:avLst/>
          </a:prstGeom>
          <a:noFill/>
          <a:ln/>
        </p:spPr>
        <p:txBody>
          <a:bodyPr wrap="square" lIns="0" tIns="0" rIns="0" bIns="0" rtlCol="0" anchor="ctr"/>
          <a:lstStyle/>
          <a:p>
            <a:pPr indent="0" marL="0">
              <a:buNone/>
            </a:pPr>
            <a:r>
              <a:rPr lang="en-US" sz="900" i="1" dirty="0">
                <a:solidFill>
                  <a:srgbClr val="6B6E85"/>
                </a:solidFill>
                <a:latin typeface="Calibri" pitchFamily="34" charset="0"/>
                <a:ea typeface="Calibri" pitchFamily="34" charset="-122"/>
                <a:cs typeface="Calibri" pitchFamily="34" charset="-120"/>
              </a:rPr>
              <a:t>Customer Shopping Behavior Analysis</a:t>
            </a:r>
            <a:endParaRPr lang="en-US" sz="900" dirty="0"/>
          </a:p>
        </p:txBody>
      </p:sp>
      <p:sp>
        <p:nvSpPr>
          <p:cNvPr id="30" name="Text 28"/>
          <p:cNvSpPr/>
          <p:nvPr/>
        </p:nvSpPr>
        <p:spPr>
          <a:xfrm>
            <a:off x="11274552" y="6519672"/>
            <a:ext cx="457200" cy="274320"/>
          </a:xfrm>
          <a:prstGeom prst="rect">
            <a:avLst/>
          </a:prstGeom>
          <a:noFill/>
          <a:ln/>
        </p:spPr>
        <p:txBody>
          <a:bodyPr wrap="square" lIns="0" tIns="0" rIns="0" bIns="0" rtlCol="0" anchor="ctr"/>
          <a:lstStyle/>
          <a:p>
            <a:pPr algn="r" indent="0" marL="0">
              <a:buNone/>
            </a:pPr>
            <a:r>
              <a:rPr lang="en-US" sz="900" dirty="0">
                <a:solidFill>
                  <a:srgbClr val="6B6E85"/>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F3C7E"/>
        </a:solidFill>
      </p:bgPr>
    </p:bg>
    <p:spTree>
      <p:nvGrpSpPr>
        <p:cNvPr id="1" name=""/>
        <p:cNvGrpSpPr/>
        <p:nvPr/>
      </p:nvGrpSpPr>
      <p:grpSpPr>
        <a:xfrm>
          <a:off x="0" y="0"/>
          <a:ext cx="0" cy="0"/>
          <a:chOff x="0" y="0"/>
          <a:chExt cx="0" cy="0"/>
        </a:xfrm>
      </p:grpSpPr>
      <p:sp>
        <p:nvSpPr>
          <p:cNvPr id="2" name="Shape 0"/>
          <p:cNvSpPr/>
          <p:nvPr/>
        </p:nvSpPr>
        <p:spPr>
          <a:xfrm>
            <a:off x="-1828800" y="-2286000"/>
            <a:ext cx="5029200" cy="5029200"/>
          </a:xfrm>
          <a:prstGeom prst="ellipse">
            <a:avLst/>
          </a:prstGeom>
          <a:solidFill>
            <a:srgbClr val="212B5E"/>
          </a:solidFill>
          <a:ln/>
        </p:spPr>
      </p:sp>
      <p:sp>
        <p:nvSpPr>
          <p:cNvPr id="3" name="Shape 1"/>
          <p:cNvSpPr/>
          <p:nvPr/>
        </p:nvSpPr>
        <p:spPr>
          <a:xfrm>
            <a:off x="9875520" y="4572000"/>
            <a:ext cx="4572000" cy="4572000"/>
          </a:xfrm>
          <a:prstGeom prst="ellipse">
            <a:avLst/>
          </a:prstGeom>
          <a:solidFill>
            <a:srgbClr val="212B5E"/>
          </a:solidFill>
          <a:ln/>
        </p:spPr>
      </p:sp>
      <p:sp>
        <p:nvSpPr>
          <p:cNvPr id="4" name="Shape 2"/>
          <p:cNvSpPr/>
          <p:nvPr/>
        </p:nvSpPr>
        <p:spPr>
          <a:xfrm>
            <a:off x="4480560" y="2788920"/>
            <a:ext cx="1371600" cy="54864"/>
          </a:xfrm>
          <a:prstGeom prst="rect">
            <a:avLst/>
          </a:prstGeom>
          <a:solidFill>
            <a:srgbClr val="F96167"/>
          </a:solidFill>
          <a:ln/>
        </p:spPr>
      </p:sp>
      <p:sp>
        <p:nvSpPr>
          <p:cNvPr id="5" name="Text 3"/>
          <p:cNvSpPr/>
          <p:nvPr/>
        </p:nvSpPr>
        <p:spPr>
          <a:xfrm>
            <a:off x="0" y="2880360"/>
            <a:ext cx="12188952" cy="91440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6" name="Text 4"/>
          <p:cNvSpPr/>
          <p:nvPr/>
        </p:nvSpPr>
        <p:spPr>
          <a:xfrm>
            <a:off x="0" y="3703320"/>
            <a:ext cx="12188952" cy="457200"/>
          </a:xfrm>
          <a:prstGeom prst="rect">
            <a:avLst/>
          </a:prstGeom>
          <a:noFill/>
          <a:ln/>
        </p:spPr>
        <p:txBody>
          <a:bodyPr wrap="square" lIns="0" tIns="0" rIns="0" bIns="0" rtlCol="0" anchor="ctr"/>
          <a:lstStyle/>
          <a:p>
            <a:pPr algn="ctr" indent="0" marL="0">
              <a:buNone/>
            </a:pPr>
            <a:r>
              <a:rPr lang="en-US" sz="1600" dirty="0">
                <a:solidFill>
                  <a:srgbClr val="CBD3F2"/>
                </a:solidFill>
                <a:latin typeface="Calibri" pitchFamily="34" charset="0"/>
                <a:ea typeface="Calibri" pitchFamily="34" charset="-122"/>
                <a:cs typeface="Calibri" pitchFamily="34" charset="-120"/>
              </a:rPr>
              <a:t>Questions &amp; Discussion</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2026-08-29T13:30:50Z</dcterms:created>
  <dcterms:modified xsi:type="dcterms:W3CDTF">2026-08-29T13:30:50Z</dcterms:modified>
</cp:coreProperties>
</file>